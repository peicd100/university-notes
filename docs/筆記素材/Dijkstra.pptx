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4B2D64-0C72-51FD-8E8C-37E8F80546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5CF2F9A-4E79-C16E-2BF4-D9E9E8B4D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AA2E0A-0D16-025E-0C04-EA731C43D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D51C9-FABB-4568-9D44-5694C045021D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320099-2B56-943E-03EF-E4A20CE75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90196A-7E55-3BBC-14EE-38FC7F58D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EFAE-D8D9-43B2-8251-7F8ACF130B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7773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76B534-B2A3-239F-0BE6-E14444EB5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2369DA-416A-174F-1C2A-74F76E861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2841E5-D311-F6A1-9A77-4362E9A4A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D51C9-FABB-4568-9D44-5694C045021D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5F468D-D2A7-D167-C3DA-E9335F9EF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4E6E5F-445F-D365-A602-D7A4BB908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EFAE-D8D9-43B2-8251-7F8ACF130B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4440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8710E6-2A75-3210-CE6E-D1DB2F001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902F5E9-9DD4-D364-81F0-DCD3B397D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6F0ACB-09FC-EDFA-7279-9206C6F46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D51C9-FABB-4568-9D44-5694C045021D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A9B8862-CF72-0207-BA80-609C0CE6B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12D03C0-79A5-402F-C2AC-6265F924E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EFAE-D8D9-43B2-8251-7F8ACF130B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3385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FF0F87-00E7-8044-0654-CBE2DB285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D8C400-F7A5-B70B-B3C2-F88C5D400F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2C0784F-13D0-3977-0E31-6C87E6F889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390ADF2-D209-557C-E708-8FC5CA3E2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D51C9-FABB-4568-9D44-5694C045021D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B8D67A0-76DB-54B7-62FA-AD2965653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1B98AE9-D13F-9209-EE33-A0BAA168F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EFAE-D8D9-43B2-8251-7F8ACF130B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4062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517878-1870-D4E1-A3C3-53EB13334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78E8A54-0670-2781-1AFA-C42372E65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4D199F-F5A0-804A-8462-BB8B40259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4E02133-19A9-6CF4-D69E-58E5352766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2567A4E-1BB8-6941-4798-B07C3F9F9E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CCFBC02-E5E5-918D-C766-069E486AA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D51C9-FABB-4568-9D44-5694C045021D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A5572A4-5C03-8ADB-7FFE-562F10489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DF4A83D-D784-DA1A-F24D-27A69D962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EFAE-D8D9-43B2-8251-7F8ACF130B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053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C7B228-6DA7-5DBA-8925-83B99079E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1D0BC62-6FCE-AAB8-DFE7-46970ABF9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D51C9-FABB-4568-9D44-5694C045021D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086BDA6-BA1A-6BBF-DDAE-CC3D4B28F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90ADC6E-7ABA-0657-BC1A-B12649849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EFAE-D8D9-43B2-8251-7F8ACF130B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0713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E9AD86A-CBE9-7826-FA6E-F75DCAADE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D51C9-FABB-4568-9D44-5694C045021D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DAEDD95-A379-C22C-5873-C1575E235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692BBC-325C-BF30-DE46-CA3FBE7E1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EFAE-D8D9-43B2-8251-7F8ACF130B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8218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60A178-70C5-54A3-4FC9-B1C944912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158435-8B4E-EF41-7314-0C4C9BECE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F18E131-6260-4FF4-38E0-B0865E666C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B1C82C4-00A9-884E-DDFE-73E2995CC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D51C9-FABB-4568-9D44-5694C045021D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57D68DC-BF5D-0370-ABC1-4BB4955FB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56AA4C7-56D2-B3C0-9507-73E18E8CC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EFAE-D8D9-43B2-8251-7F8ACF130B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3946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24483F-7FEB-5133-6AA6-484B3C37B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D6431F4-AFCA-27C1-EF2B-B59DC4CA30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C105CA0-0FC3-43CC-4F59-84953E7A8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B8930F2-C9ED-0559-7258-2FAAC1E6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D51C9-FABB-4568-9D44-5694C045021D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E0DE97B-E70B-BD4F-E588-9CC152A98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12E7434-9FD4-D199-435A-CD7F69439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EFAE-D8D9-43B2-8251-7F8ACF130B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5276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EE332C-A773-6748-18A6-7E9C55058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8126A3C-1D8A-5EFD-2E86-154A564FF7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328600-B0CE-13B6-4250-C82620943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D51C9-FABB-4568-9D44-5694C045021D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FEB5C4-A826-E875-386A-1D82CCA32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0DB7011-E14B-2EAA-1BCB-1E4674005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EFAE-D8D9-43B2-8251-7F8ACF130B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0779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D3F9726-71FF-1570-1D83-70AB77F334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5C01EE3-5EC9-9B7A-35FA-7EFB590616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4498C0-59F2-967F-FDB3-8A3CEC40A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D51C9-FABB-4568-9D44-5694C045021D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31980C-C1AD-EE05-5313-3F993BEF2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79F0C37-8DF6-86FD-2C15-E835AEB9D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EFAE-D8D9-43B2-8251-7F8ACF130B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0978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76A6CEC-B387-28F7-9B53-EAB561DA8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CBDD65B-F2F9-2E89-924F-1DA7D46BB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B94631-5F47-4A9C-3772-B4E3F85B8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5D51C9-FABB-4568-9D44-5694C045021D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EEBAAC7-D997-9E0E-5AFD-6014C9199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CD2BA3-FDEB-7D67-50CF-68EA0DE3B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8EFAE-D8D9-43B2-8251-7F8ACF130B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7027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F9E54644-856F-6FA8-E316-39F3147CF858}"/>
              </a:ext>
            </a:extLst>
          </p:cNvPr>
          <p:cNvSpPr/>
          <p:nvPr/>
        </p:nvSpPr>
        <p:spPr>
          <a:xfrm>
            <a:off x="268911" y="33252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03065BC3-77B5-5C1F-A51E-993C03686F4F}"/>
              </a:ext>
            </a:extLst>
          </p:cNvPr>
          <p:cNvSpPr/>
          <p:nvPr/>
        </p:nvSpPr>
        <p:spPr>
          <a:xfrm>
            <a:off x="2459661" y="20298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874BB712-6F87-B77D-1270-DE895FE2C259}"/>
              </a:ext>
            </a:extLst>
          </p:cNvPr>
          <p:cNvCxnSpPr>
            <a:stCxn id="4" idx="7"/>
            <a:endCxn id="5" idx="2"/>
          </p:cNvCxnSpPr>
          <p:nvPr/>
        </p:nvCxnSpPr>
        <p:spPr>
          <a:xfrm flipV="1">
            <a:off x="766938" y="2321585"/>
            <a:ext cx="1692723" cy="108911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F59DBD6F-7FDE-2689-D7B7-AD073D072552}"/>
              </a:ext>
            </a:extLst>
          </p:cNvPr>
          <p:cNvSpPr/>
          <p:nvPr/>
        </p:nvSpPr>
        <p:spPr>
          <a:xfrm>
            <a:off x="2459660" y="45317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8351446F-A6D7-282A-A3A1-19CE78A5CF0B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766938" y="3823276"/>
            <a:ext cx="1692722" cy="100020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流程圖: 人工作業 29">
            <a:extLst>
              <a:ext uri="{FF2B5EF4-FFF2-40B4-BE49-F238E27FC236}">
                <a16:creationId xmlns:a16="http://schemas.microsoft.com/office/drawing/2014/main" id="{AE604D01-A78B-E83C-32FB-53DE3804181D}"/>
              </a:ext>
            </a:extLst>
          </p:cNvPr>
          <p:cNvSpPr/>
          <p:nvPr/>
        </p:nvSpPr>
        <p:spPr>
          <a:xfrm flipV="1">
            <a:off x="6940257" y="2549220"/>
            <a:ext cx="2419328" cy="2948394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D7400B7-0248-62C6-3F60-AB3BFF96D62E}"/>
              </a:ext>
            </a:extLst>
          </p:cNvPr>
          <p:cNvSpPr/>
          <p:nvPr/>
        </p:nvSpPr>
        <p:spPr>
          <a:xfrm>
            <a:off x="3503650" y="5623650"/>
            <a:ext cx="3777989" cy="573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初始化</a:t>
            </a:r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16F93FB1-6E10-F3C5-A485-52039BCB5477}"/>
              </a:ext>
            </a:extLst>
          </p:cNvPr>
          <p:cNvSpPr/>
          <p:nvPr/>
        </p:nvSpPr>
        <p:spPr>
          <a:xfrm>
            <a:off x="4809170" y="3165859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9BBB9EFF-CD90-26FB-2A2E-8FA7422A75EB}"/>
              </a:ext>
            </a:extLst>
          </p:cNvPr>
          <p:cNvCxnSpPr>
            <a:cxnSpLocks/>
            <a:stCxn id="34" idx="1"/>
            <a:endCxn id="5" idx="6"/>
          </p:cNvCxnSpPr>
          <p:nvPr/>
        </p:nvCxnSpPr>
        <p:spPr>
          <a:xfrm flipH="1" flipV="1">
            <a:off x="3043136" y="2321585"/>
            <a:ext cx="1851482" cy="929722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1C7D4121-016B-E8F7-8B57-FAB59D92E5A0}"/>
              </a:ext>
            </a:extLst>
          </p:cNvPr>
          <p:cNvCxnSpPr>
            <a:cxnSpLocks/>
            <a:stCxn id="34" idx="3"/>
            <a:endCxn id="9" idx="6"/>
          </p:cNvCxnSpPr>
          <p:nvPr/>
        </p:nvCxnSpPr>
        <p:spPr>
          <a:xfrm flipH="1">
            <a:off x="3043135" y="3663886"/>
            <a:ext cx="1851483" cy="1159599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726B0E9C-2329-9B0A-0614-1856161E7A9E}"/>
              </a:ext>
            </a:extLst>
          </p:cNvPr>
          <p:cNvCxnSpPr>
            <a:cxnSpLocks/>
            <a:stCxn id="9" idx="0"/>
            <a:endCxn id="5" idx="4"/>
          </p:cNvCxnSpPr>
          <p:nvPr/>
        </p:nvCxnSpPr>
        <p:spPr>
          <a:xfrm flipV="1">
            <a:off x="2751398" y="2613322"/>
            <a:ext cx="1" cy="1918425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3C8B338E-52DB-361C-B857-50173EA7FF39}"/>
              </a:ext>
            </a:extLst>
          </p:cNvPr>
          <p:cNvSpPr/>
          <p:nvPr/>
        </p:nvSpPr>
        <p:spPr>
          <a:xfrm>
            <a:off x="1333879" y="2424150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69D1DB6-6780-B3DD-72EE-8B895F71F07B}"/>
              </a:ext>
            </a:extLst>
          </p:cNvPr>
          <p:cNvSpPr/>
          <p:nvPr/>
        </p:nvSpPr>
        <p:spPr>
          <a:xfrm>
            <a:off x="1390882" y="4352359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B441890-9200-BCF6-6DD3-2C7B38573820}"/>
              </a:ext>
            </a:extLst>
          </p:cNvPr>
          <p:cNvSpPr/>
          <p:nvPr/>
        </p:nvSpPr>
        <p:spPr>
          <a:xfrm>
            <a:off x="2426169" y="3378467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3DB94A9-D2A6-85E9-BA0B-D99F1526A70A}"/>
              </a:ext>
            </a:extLst>
          </p:cNvPr>
          <p:cNvSpPr/>
          <p:nvPr/>
        </p:nvSpPr>
        <p:spPr>
          <a:xfrm>
            <a:off x="4095712" y="2357359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9C43B9F-1272-0166-7FAF-FC5507C95ACA}"/>
              </a:ext>
            </a:extLst>
          </p:cNvPr>
          <p:cNvSpPr/>
          <p:nvPr/>
        </p:nvSpPr>
        <p:spPr>
          <a:xfrm>
            <a:off x="4172960" y="4204405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D8CAFEBF-45D0-529A-1FFF-D45807F4AD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485629"/>
              </p:ext>
            </p:extLst>
          </p:nvPr>
        </p:nvGraphicFramePr>
        <p:xfrm>
          <a:off x="1159118" y="719666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976633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040504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520339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270940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77210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index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1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2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3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4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280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value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541040"/>
                  </a:ext>
                </a:extLst>
              </a:tr>
            </a:tbl>
          </a:graphicData>
        </a:graphic>
      </p:graphicFrame>
      <p:sp>
        <p:nvSpPr>
          <p:cNvPr id="57" name="矩形 56">
            <a:extLst>
              <a:ext uri="{FF2B5EF4-FFF2-40B4-BE49-F238E27FC236}">
                <a16:creationId xmlns:a16="http://schemas.microsoft.com/office/drawing/2014/main" id="{739BF175-2521-3507-8B1C-4BFCE644CC2B}"/>
              </a:ext>
            </a:extLst>
          </p:cNvPr>
          <p:cNvSpPr/>
          <p:nvPr/>
        </p:nvSpPr>
        <p:spPr>
          <a:xfrm>
            <a:off x="237067" y="730193"/>
            <a:ext cx="1199774" cy="7206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dis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C8723468-AC30-E9F0-063B-DEAE183A3CDE}"/>
              </a:ext>
            </a:extLst>
          </p:cNvPr>
          <p:cNvSpPr/>
          <p:nvPr/>
        </p:nvSpPr>
        <p:spPr>
          <a:xfrm>
            <a:off x="7012724" y="1903573"/>
            <a:ext cx="2274394" cy="520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priority_queue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與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 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的距離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點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BCEBC94C-1AFB-9CE8-6FD6-818C178013AE}"/>
              </a:ext>
            </a:extLst>
          </p:cNvPr>
          <p:cNvSpPr/>
          <p:nvPr/>
        </p:nvSpPr>
        <p:spPr>
          <a:xfrm>
            <a:off x="9520902" y="808341"/>
            <a:ext cx="2627655" cy="471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push {0,1}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{0,1}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dist[2] = 2  push {2,2}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dist[3] = 5  push {5,3}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{2,2}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dist[3] = 3  push {3,3}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dist[4] = 6  push {6,4}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{3,3}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dist[4] = 5  push {5,4}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{5,3}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continue {5,3}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{5,4}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{6,4}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continue {6,4}</a:t>
            </a:r>
          </a:p>
          <a:p>
            <a:endParaRPr lang="en-US" altLang="zh-TW" sz="14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dis[1] = 0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dis[2] = 2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dis[3] = 3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dis[4] = 5</a:t>
            </a:r>
            <a:endParaRPr lang="zh-TW" altLang="en-US" sz="14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784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95E21-2FBC-E4B8-9D4D-F9E361F7D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7B2C08E-55FD-15A8-C672-045322004615}"/>
              </a:ext>
            </a:extLst>
          </p:cNvPr>
          <p:cNvSpPr/>
          <p:nvPr/>
        </p:nvSpPr>
        <p:spPr>
          <a:xfrm>
            <a:off x="268911" y="33252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5A993C2-73D0-386A-5F2C-07813D5F37A6}"/>
              </a:ext>
            </a:extLst>
          </p:cNvPr>
          <p:cNvSpPr/>
          <p:nvPr/>
        </p:nvSpPr>
        <p:spPr>
          <a:xfrm>
            <a:off x="2459661" y="20298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15DF31F0-A3F9-829E-83A7-1AEC0A9A1942}"/>
              </a:ext>
            </a:extLst>
          </p:cNvPr>
          <p:cNvSpPr/>
          <p:nvPr/>
        </p:nvSpPr>
        <p:spPr>
          <a:xfrm>
            <a:off x="2459660" y="45317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0" name="流程圖: 人工作業 29">
            <a:extLst>
              <a:ext uri="{FF2B5EF4-FFF2-40B4-BE49-F238E27FC236}">
                <a16:creationId xmlns:a16="http://schemas.microsoft.com/office/drawing/2014/main" id="{A49907C9-855A-21DB-64BC-E8CB5BC5877C}"/>
              </a:ext>
            </a:extLst>
          </p:cNvPr>
          <p:cNvSpPr/>
          <p:nvPr/>
        </p:nvSpPr>
        <p:spPr>
          <a:xfrm flipV="1">
            <a:off x="6940257" y="2549220"/>
            <a:ext cx="2419328" cy="2948394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9E280A1-B2EC-3A38-3548-BA2A65F86B96}"/>
              </a:ext>
            </a:extLst>
          </p:cNvPr>
          <p:cNvSpPr/>
          <p:nvPr/>
        </p:nvSpPr>
        <p:spPr>
          <a:xfrm>
            <a:off x="1923511" y="5623650"/>
            <a:ext cx="6938268" cy="573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更新路徑：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dist[1] = 0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，並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push {0,1}</a:t>
            </a:r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23447D0D-05D0-4AAC-9C90-1DE2C14A3A96}"/>
              </a:ext>
            </a:extLst>
          </p:cNvPr>
          <p:cNvSpPr/>
          <p:nvPr/>
        </p:nvSpPr>
        <p:spPr>
          <a:xfrm>
            <a:off x="4809170" y="3165859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E0E436B-033E-616B-5DEB-78C5C3B10AA5}"/>
              </a:ext>
            </a:extLst>
          </p:cNvPr>
          <p:cNvSpPr/>
          <p:nvPr/>
        </p:nvSpPr>
        <p:spPr>
          <a:xfrm>
            <a:off x="1333879" y="2424150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D49C6EB-5664-619F-C450-A58DEFE7DDED}"/>
              </a:ext>
            </a:extLst>
          </p:cNvPr>
          <p:cNvSpPr/>
          <p:nvPr/>
        </p:nvSpPr>
        <p:spPr>
          <a:xfrm>
            <a:off x="1390882" y="4352359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B6D3DA9-9606-2367-3163-4B17D358F32E}"/>
              </a:ext>
            </a:extLst>
          </p:cNvPr>
          <p:cNvSpPr/>
          <p:nvPr/>
        </p:nvSpPr>
        <p:spPr>
          <a:xfrm>
            <a:off x="2426169" y="3378467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1E39F58-AF15-4B70-3170-031A49FE72CA}"/>
              </a:ext>
            </a:extLst>
          </p:cNvPr>
          <p:cNvSpPr/>
          <p:nvPr/>
        </p:nvSpPr>
        <p:spPr>
          <a:xfrm>
            <a:off x="4095712" y="2357359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4DB31F1-7866-79A0-F2FE-4EAA5D3104B4}"/>
              </a:ext>
            </a:extLst>
          </p:cNvPr>
          <p:cNvSpPr/>
          <p:nvPr/>
        </p:nvSpPr>
        <p:spPr>
          <a:xfrm>
            <a:off x="4172960" y="4204405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86D4519F-E956-FD9F-33A1-261D724668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606295"/>
              </p:ext>
            </p:extLst>
          </p:nvPr>
        </p:nvGraphicFramePr>
        <p:xfrm>
          <a:off x="1159118" y="719666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976633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040504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520339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270940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77210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index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1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2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3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4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280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value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541040"/>
                  </a:ext>
                </a:extLst>
              </a:tr>
            </a:tbl>
          </a:graphicData>
        </a:graphic>
      </p:graphicFrame>
      <p:sp>
        <p:nvSpPr>
          <p:cNvPr id="57" name="矩形 56">
            <a:extLst>
              <a:ext uri="{FF2B5EF4-FFF2-40B4-BE49-F238E27FC236}">
                <a16:creationId xmlns:a16="http://schemas.microsoft.com/office/drawing/2014/main" id="{DD82234F-CC61-C3F7-E64C-1B1B967273A0}"/>
              </a:ext>
            </a:extLst>
          </p:cNvPr>
          <p:cNvSpPr/>
          <p:nvPr/>
        </p:nvSpPr>
        <p:spPr>
          <a:xfrm>
            <a:off x="237067" y="730193"/>
            <a:ext cx="1199774" cy="7206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dis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592203C-23AA-5E1F-3B98-023054C4136D}"/>
              </a:ext>
            </a:extLst>
          </p:cNvPr>
          <p:cNvSpPr/>
          <p:nvPr/>
        </p:nvSpPr>
        <p:spPr>
          <a:xfrm>
            <a:off x="7012724" y="1903573"/>
            <a:ext cx="2274394" cy="520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priority_queue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與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 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的距離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點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C4E3124-B180-D0D4-E7EE-E61D819CF6BC}"/>
              </a:ext>
            </a:extLst>
          </p:cNvPr>
          <p:cNvSpPr/>
          <p:nvPr/>
        </p:nvSpPr>
        <p:spPr>
          <a:xfrm>
            <a:off x="7533040" y="2691553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{0,1}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5709C99-B9CF-D9F4-5FC3-B16A03A457CB}"/>
              </a:ext>
            </a:extLst>
          </p:cNvPr>
          <p:cNvSpPr/>
          <p:nvPr/>
        </p:nvSpPr>
        <p:spPr>
          <a:xfrm>
            <a:off x="9520902" y="808341"/>
            <a:ext cx="2627655" cy="471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push {0,1}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{0,1}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dist[2] = 2  push {2,2}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dist[3] = 5  push {5,3}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{2,2}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dist[3] = 3  push {3,3}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dist[4] = 6  push {6,4}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{3,3}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dist[4] = 5  push {5,4}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{5,3}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continue {5,3}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{5,4}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{6,4}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continue {6,4}</a:t>
            </a:r>
          </a:p>
          <a:p>
            <a:endParaRPr lang="en-US" altLang="zh-TW" sz="14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dis[1] = 0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dis[2] = 2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dis[3] = 3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dis[4] = 5</a:t>
            </a:r>
            <a:endParaRPr lang="zh-TW" altLang="en-US" sz="14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C4C44287-7EDB-83EE-FEB0-A1D3ADF4C91F}"/>
              </a:ext>
            </a:extLst>
          </p:cNvPr>
          <p:cNvCxnSpPr/>
          <p:nvPr/>
        </p:nvCxnSpPr>
        <p:spPr>
          <a:xfrm flipV="1">
            <a:off x="766938" y="2321585"/>
            <a:ext cx="1692723" cy="108911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CFFE228B-CE2A-4E5F-F157-9046B6734664}"/>
              </a:ext>
            </a:extLst>
          </p:cNvPr>
          <p:cNvCxnSpPr>
            <a:cxnSpLocks/>
          </p:cNvCxnSpPr>
          <p:nvPr/>
        </p:nvCxnSpPr>
        <p:spPr>
          <a:xfrm>
            <a:off x="766938" y="3823276"/>
            <a:ext cx="1692722" cy="100020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61930B38-C0C7-0390-DDF3-F36089B95244}"/>
              </a:ext>
            </a:extLst>
          </p:cNvPr>
          <p:cNvCxnSpPr>
            <a:cxnSpLocks/>
          </p:cNvCxnSpPr>
          <p:nvPr/>
        </p:nvCxnSpPr>
        <p:spPr>
          <a:xfrm flipH="1" flipV="1">
            <a:off x="3043136" y="2321585"/>
            <a:ext cx="1851482" cy="929722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7FE80EC7-F0DC-A9F3-1429-44F98C441ECD}"/>
              </a:ext>
            </a:extLst>
          </p:cNvPr>
          <p:cNvCxnSpPr>
            <a:cxnSpLocks/>
          </p:cNvCxnSpPr>
          <p:nvPr/>
        </p:nvCxnSpPr>
        <p:spPr>
          <a:xfrm flipH="1">
            <a:off x="3043135" y="3663886"/>
            <a:ext cx="1851483" cy="1159599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39E5E26A-C2CF-833A-6F73-F9C77E435BF4}"/>
              </a:ext>
            </a:extLst>
          </p:cNvPr>
          <p:cNvCxnSpPr>
            <a:cxnSpLocks/>
          </p:cNvCxnSpPr>
          <p:nvPr/>
        </p:nvCxnSpPr>
        <p:spPr>
          <a:xfrm flipV="1">
            <a:off x="2751398" y="2613322"/>
            <a:ext cx="1" cy="1918425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4FB62B1E-A10F-4F0B-E1BF-01B95381AD0E}"/>
              </a:ext>
            </a:extLst>
          </p:cNvPr>
          <p:cNvSpPr/>
          <p:nvPr/>
        </p:nvSpPr>
        <p:spPr>
          <a:xfrm>
            <a:off x="2805507" y="1160563"/>
            <a:ext cx="479559" cy="231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6C4B41-B8E9-49B1-C4F2-4339ECF04FE2}"/>
              </a:ext>
            </a:extLst>
          </p:cNvPr>
          <p:cNvSpPr/>
          <p:nvPr/>
        </p:nvSpPr>
        <p:spPr>
          <a:xfrm>
            <a:off x="2803355" y="1131084"/>
            <a:ext cx="479559" cy="290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209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EB07A-BC93-4140-E7A1-61C25C659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8BBF2A2F-4280-7400-8933-531EF7342FEE}"/>
              </a:ext>
            </a:extLst>
          </p:cNvPr>
          <p:cNvSpPr/>
          <p:nvPr/>
        </p:nvSpPr>
        <p:spPr>
          <a:xfrm>
            <a:off x="268911" y="3325247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7BE72A98-0209-B1C1-8252-290858A2F877}"/>
              </a:ext>
            </a:extLst>
          </p:cNvPr>
          <p:cNvSpPr/>
          <p:nvPr/>
        </p:nvSpPr>
        <p:spPr>
          <a:xfrm>
            <a:off x="2459661" y="20298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5F6A99B3-A760-DE79-AEDD-CD53A7D76808}"/>
              </a:ext>
            </a:extLst>
          </p:cNvPr>
          <p:cNvSpPr/>
          <p:nvPr/>
        </p:nvSpPr>
        <p:spPr>
          <a:xfrm>
            <a:off x="2459660" y="45317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0" name="流程圖: 人工作業 29">
            <a:extLst>
              <a:ext uri="{FF2B5EF4-FFF2-40B4-BE49-F238E27FC236}">
                <a16:creationId xmlns:a16="http://schemas.microsoft.com/office/drawing/2014/main" id="{35A28882-FC84-4FE7-0A90-BAF7505971B5}"/>
              </a:ext>
            </a:extLst>
          </p:cNvPr>
          <p:cNvSpPr/>
          <p:nvPr/>
        </p:nvSpPr>
        <p:spPr>
          <a:xfrm flipV="1">
            <a:off x="6940257" y="2549220"/>
            <a:ext cx="2419328" cy="2948394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F2EB850-03E4-38F1-9DB0-3E724C80D9D1}"/>
              </a:ext>
            </a:extLst>
          </p:cNvPr>
          <p:cNvSpPr/>
          <p:nvPr/>
        </p:nvSpPr>
        <p:spPr>
          <a:xfrm>
            <a:off x="3503650" y="5623650"/>
            <a:ext cx="3777989" cy="573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取出最小的：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{0,1}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8B8036BD-BB54-0799-702B-7A4C5053EC47}"/>
              </a:ext>
            </a:extLst>
          </p:cNvPr>
          <p:cNvSpPr/>
          <p:nvPr/>
        </p:nvSpPr>
        <p:spPr>
          <a:xfrm>
            <a:off x="4809170" y="3165859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4457259-2C85-10AB-D87C-B85D3C974020}"/>
              </a:ext>
            </a:extLst>
          </p:cNvPr>
          <p:cNvSpPr/>
          <p:nvPr/>
        </p:nvSpPr>
        <p:spPr>
          <a:xfrm>
            <a:off x="1333879" y="2424150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03E236C-8D43-573E-3B8D-1001ABCB1AF3}"/>
              </a:ext>
            </a:extLst>
          </p:cNvPr>
          <p:cNvSpPr/>
          <p:nvPr/>
        </p:nvSpPr>
        <p:spPr>
          <a:xfrm>
            <a:off x="1390882" y="4352359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4784BE6-5984-6960-B4F0-84A543428E69}"/>
              </a:ext>
            </a:extLst>
          </p:cNvPr>
          <p:cNvSpPr/>
          <p:nvPr/>
        </p:nvSpPr>
        <p:spPr>
          <a:xfrm>
            <a:off x="2426169" y="3378467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C3B9166-3E0E-9283-3602-ADF1225A2993}"/>
              </a:ext>
            </a:extLst>
          </p:cNvPr>
          <p:cNvSpPr/>
          <p:nvPr/>
        </p:nvSpPr>
        <p:spPr>
          <a:xfrm>
            <a:off x="4095712" y="2357359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672891D3-344A-00F0-0147-B18B381D4A22}"/>
              </a:ext>
            </a:extLst>
          </p:cNvPr>
          <p:cNvSpPr/>
          <p:nvPr/>
        </p:nvSpPr>
        <p:spPr>
          <a:xfrm>
            <a:off x="4172960" y="4204405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6B75BF6E-A6B4-B9C7-695C-5EE3BFC9D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597830"/>
              </p:ext>
            </p:extLst>
          </p:nvPr>
        </p:nvGraphicFramePr>
        <p:xfrm>
          <a:off x="1159118" y="719666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976633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040504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520339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270940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77210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index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1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2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3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4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280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value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541040"/>
                  </a:ext>
                </a:extLst>
              </a:tr>
            </a:tbl>
          </a:graphicData>
        </a:graphic>
      </p:graphicFrame>
      <p:sp>
        <p:nvSpPr>
          <p:cNvPr id="57" name="矩形 56">
            <a:extLst>
              <a:ext uri="{FF2B5EF4-FFF2-40B4-BE49-F238E27FC236}">
                <a16:creationId xmlns:a16="http://schemas.microsoft.com/office/drawing/2014/main" id="{FADD471D-DCFF-6753-9C1E-F893DDFC810C}"/>
              </a:ext>
            </a:extLst>
          </p:cNvPr>
          <p:cNvSpPr/>
          <p:nvPr/>
        </p:nvSpPr>
        <p:spPr>
          <a:xfrm>
            <a:off x="237067" y="730193"/>
            <a:ext cx="1199774" cy="7206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dis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0AD70DDA-63D7-8554-3C82-65A9F911AC17}"/>
              </a:ext>
            </a:extLst>
          </p:cNvPr>
          <p:cNvSpPr/>
          <p:nvPr/>
        </p:nvSpPr>
        <p:spPr>
          <a:xfrm>
            <a:off x="7012724" y="1903573"/>
            <a:ext cx="2274394" cy="520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priority_queue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與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 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的距離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點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BD82836-33EE-3438-E89B-1CDD7856A6DC}"/>
              </a:ext>
            </a:extLst>
          </p:cNvPr>
          <p:cNvSpPr/>
          <p:nvPr/>
        </p:nvSpPr>
        <p:spPr>
          <a:xfrm>
            <a:off x="9520902" y="808341"/>
            <a:ext cx="2627655" cy="471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push {0,1}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{0,1}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dist[2] = 2  push {2,2}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dist[3] = 5  push {5,3}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{2,2}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dist[3] = 3  push {3,3}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dist[4] = 6  push {6,4}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{3,3}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dist[4] = 5  push {5,4}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{5,3}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continue {5,3}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{5,4}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{6,4}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continue {6,4}</a:t>
            </a:r>
          </a:p>
          <a:p>
            <a:endParaRPr lang="en-US" altLang="zh-TW" sz="14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dis[1] = 0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dis[2] = 2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dis[3] = 3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dis[4] = 5</a:t>
            </a:r>
            <a:endParaRPr lang="zh-TW" altLang="en-US" sz="14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20D4185-6A20-A89D-B4F7-C3C57418DC90}"/>
              </a:ext>
            </a:extLst>
          </p:cNvPr>
          <p:cNvSpPr/>
          <p:nvPr/>
        </p:nvSpPr>
        <p:spPr>
          <a:xfrm>
            <a:off x="7533040" y="2691553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{0,1}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2BADD116-265A-6DE6-40BB-0D495D319CEB}"/>
              </a:ext>
            </a:extLst>
          </p:cNvPr>
          <p:cNvCxnSpPr/>
          <p:nvPr/>
        </p:nvCxnSpPr>
        <p:spPr>
          <a:xfrm flipV="1">
            <a:off x="766938" y="2321585"/>
            <a:ext cx="1692723" cy="108911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B51873C6-8A40-754E-9E50-616A49D4881B}"/>
              </a:ext>
            </a:extLst>
          </p:cNvPr>
          <p:cNvCxnSpPr>
            <a:cxnSpLocks/>
          </p:cNvCxnSpPr>
          <p:nvPr/>
        </p:nvCxnSpPr>
        <p:spPr>
          <a:xfrm>
            <a:off x="766938" y="3823276"/>
            <a:ext cx="1692722" cy="100020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340F6699-C603-D015-6EFA-7F8A271A9C6C}"/>
              </a:ext>
            </a:extLst>
          </p:cNvPr>
          <p:cNvCxnSpPr>
            <a:cxnSpLocks/>
          </p:cNvCxnSpPr>
          <p:nvPr/>
        </p:nvCxnSpPr>
        <p:spPr>
          <a:xfrm flipH="1" flipV="1">
            <a:off x="3043136" y="2321585"/>
            <a:ext cx="1851482" cy="929722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09CE2BB1-E9D9-791E-1A88-582C8B7BC7A2}"/>
              </a:ext>
            </a:extLst>
          </p:cNvPr>
          <p:cNvCxnSpPr>
            <a:cxnSpLocks/>
          </p:cNvCxnSpPr>
          <p:nvPr/>
        </p:nvCxnSpPr>
        <p:spPr>
          <a:xfrm flipH="1">
            <a:off x="3043135" y="3663886"/>
            <a:ext cx="1851483" cy="1159599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53767018-25FA-BC16-0A8A-AC7EC7628FE9}"/>
              </a:ext>
            </a:extLst>
          </p:cNvPr>
          <p:cNvCxnSpPr>
            <a:cxnSpLocks/>
          </p:cNvCxnSpPr>
          <p:nvPr/>
        </p:nvCxnSpPr>
        <p:spPr>
          <a:xfrm flipV="1">
            <a:off x="2751398" y="2613322"/>
            <a:ext cx="1" cy="1918425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1DE28178-BE3B-18F6-CDD7-9FF1026F2C34}"/>
              </a:ext>
            </a:extLst>
          </p:cNvPr>
          <p:cNvSpPr/>
          <p:nvPr/>
        </p:nvSpPr>
        <p:spPr>
          <a:xfrm>
            <a:off x="2794218" y="1160563"/>
            <a:ext cx="479559" cy="231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6BB09DA-277D-0BE7-6168-C9548DD42472}"/>
              </a:ext>
            </a:extLst>
          </p:cNvPr>
          <p:cNvSpPr/>
          <p:nvPr/>
        </p:nvSpPr>
        <p:spPr>
          <a:xfrm>
            <a:off x="2803355" y="1131084"/>
            <a:ext cx="479559" cy="290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680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D995C-3283-2C4B-4876-2C6617CB0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橢圓 4">
            <a:extLst>
              <a:ext uri="{FF2B5EF4-FFF2-40B4-BE49-F238E27FC236}">
                <a16:creationId xmlns:a16="http://schemas.microsoft.com/office/drawing/2014/main" id="{E73F3B14-5413-3FB7-C828-1A28ADD9BC1E}"/>
              </a:ext>
            </a:extLst>
          </p:cNvPr>
          <p:cNvSpPr/>
          <p:nvPr/>
        </p:nvSpPr>
        <p:spPr>
          <a:xfrm>
            <a:off x="2462912" y="20298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C19FDE96-265B-F29B-62A2-8DAFB1C43FEF}"/>
              </a:ext>
            </a:extLst>
          </p:cNvPr>
          <p:cNvSpPr/>
          <p:nvPr/>
        </p:nvSpPr>
        <p:spPr>
          <a:xfrm>
            <a:off x="2462911" y="45317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0" name="流程圖: 人工作業 29">
            <a:extLst>
              <a:ext uri="{FF2B5EF4-FFF2-40B4-BE49-F238E27FC236}">
                <a16:creationId xmlns:a16="http://schemas.microsoft.com/office/drawing/2014/main" id="{419CC239-B7FC-0230-B8BB-BD2E45A08F8C}"/>
              </a:ext>
            </a:extLst>
          </p:cNvPr>
          <p:cNvSpPr/>
          <p:nvPr/>
        </p:nvSpPr>
        <p:spPr>
          <a:xfrm flipV="1">
            <a:off x="6943508" y="2549220"/>
            <a:ext cx="2419328" cy="2948394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CF43EB9-AF50-5B78-2B1D-DDB81B969247}"/>
              </a:ext>
            </a:extLst>
          </p:cNvPr>
          <p:cNvSpPr/>
          <p:nvPr/>
        </p:nvSpPr>
        <p:spPr>
          <a:xfrm>
            <a:off x="237067" y="5623650"/>
            <a:ext cx="10340236" cy="573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更新路徑：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dist[2] = 2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，並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push {2,2}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90D9B78C-ED1A-1455-1A88-12D662521614}"/>
              </a:ext>
            </a:extLst>
          </p:cNvPr>
          <p:cNvSpPr/>
          <p:nvPr/>
        </p:nvSpPr>
        <p:spPr>
          <a:xfrm>
            <a:off x="4812421" y="3165859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B93BB16-0A49-83E5-F7BA-D6FCCF941EB3}"/>
              </a:ext>
            </a:extLst>
          </p:cNvPr>
          <p:cNvSpPr/>
          <p:nvPr/>
        </p:nvSpPr>
        <p:spPr>
          <a:xfrm>
            <a:off x="1337130" y="2424150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512732A-6F10-9B15-7605-D9FBE56FC8D2}"/>
              </a:ext>
            </a:extLst>
          </p:cNvPr>
          <p:cNvSpPr/>
          <p:nvPr/>
        </p:nvSpPr>
        <p:spPr>
          <a:xfrm>
            <a:off x="1394133" y="4352359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64393BD-6FE0-33FC-22C6-ABCCE0482DE7}"/>
              </a:ext>
            </a:extLst>
          </p:cNvPr>
          <p:cNvSpPr/>
          <p:nvPr/>
        </p:nvSpPr>
        <p:spPr>
          <a:xfrm>
            <a:off x="2429420" y="3378467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DFEF617-4B93-87E5-E58D-D35706C6022F}"/>
              </a:ext>
            </a:extLst>
          </p:cNvPr>
          <p:cNvSpPr/>
          <p:nvPr/>
        </p:nvSpPr>
        <p:spPr>
          <a:xfrm>
            <a:off x="4098963" y="2357359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B68479E-B20C-2415-A367-58840DC4F58C}"/>
              </a:ext>
            </a:extLst>
          </p:cNvPr>
          <p:cNvSpPr/>
          <p:nvPr/>
        </p:nvSpPr>
        <p:spPr>
          <a:xfrm>
            <a:off x="4176211" y="4204405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2445B3F6-4AC9-CAFB-B2B7-F493CCC061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794892"/>
              </p:ext>
            </p:extLst>
          </p:nvPr>
        </p:nvGraphicFramePr>
        <p:xfrm>
          <a:off x="1162369" y="719666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976633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040504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520339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270940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77210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index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1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2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3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4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280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value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2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541040"/>
                  </a:ext>
                </a:extLst>
              </a:tr>
            </a:tbl>
          </a:graphicData>
        </a:graphic>
      </p:graphicFrame>
      <p:sp>
        <p:nvSpPr>
          <p:cNvPr id="57" name="矩形 56">
            <a:extLst>
              <a:ext uri="{FF2B5EF4-FFF2-40B4-BE49-F238E27FC236}">
                <a16:creationId xmlns:a16="http://schemas.microsoft.com/office/drawing/2014/main" id="{31D33B73-3238-8033-CD98-B3F376908A06}"/>
              </a:ext>
            </a:extLst>
          </p:cNvPr>
          <p:cNvSpPr/>
          <p:nvPr/>
        </p:nvSpPr>
        <p:spPr>
          <a:xfrm>
            <a:off x="240318" y="730193"/>
            <a:ext cx="1199774" cy="7206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dis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A0802A06-DD7E-F1A0-4578-DA6A06933555}"/>
              </a:ext>
            </a:extLst>
          </p:cNvPr>
          <p:cNvSpPr/>
          <p:nvPr/>
        </p:nvSpPr>
        <p:spPr>
          <a:xfrm>
            <a:off x="7015975" y="1903573"/>
            <a:ext cx="2274394" cy="520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priority_queue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與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 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的距離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點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3585F2-1FF5-4B4B-CD50-6CD62F3F2858}"/>
              </a:ext>
            </a:extLst>
          </p:cNvPr>
          <p:cNvSpPr/>
          <p:nvPr/>
        </p:nvSpPr>
        <p:spPr>
          <a:xfrm>
            <a:off x="7536291" y="3075369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{2,2}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F729E7-1C3B-8125-DEAE-AE95F7DF9AA6}"/>
              </a:ext>
            </a:extLst>
          </p:cNvPr>
          <p:cNvSpPr/>
          <p:nvPr/>
        </p:nvSpPr>
        <p:spPr>
          <a:xfrm>
            <a:off x="9520902" y="808341"/>
            <a:ext cx="2627655" cy="471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push {0,1}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{0,1}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dist[2] = 2  push {2,2}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dist[3] = 5  push {5,3}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{2,2}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dist[3] = 3  push {3,3}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dist[4] = 6  push {6,4}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{3,3}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dist[4] = 5  push {5,4}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{5,3}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continue {5,3}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{5,4}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{6,4}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continue {6,4}</a:t>
            </a:r>
          </a:p>
          <a:p>
            <a:endParaRPr lang="en-US" altLang="zh-TW" sz="14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dis[1] = 0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dis[2] = 2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dis[3] = 3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dis[4] = 5</a:t>
            </a:r>
            <a:endParaRPr lang="zh-TW" altLang="en-US" sz="14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D1BBE80-07EC-46FC-4C73-36A6BFEFEB89}"/>
              </a:ext>
            </a:extLst>
          </p:cNvPr>
          <p:cNvSpPr/>
          <p:nvPr/>
        </p:nvSpPr>
        <p:spPr>
          <a:xfrm>
            <a:off x="7533040" y="2691553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{0,1}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F5CB7E2F-05A8-94B8-7C23-12F403452D67}"/>
              </a:ext>
            </a:extLst>
          </p:cNvPr>
          <p:cNvSpPr/>
          <p:nvPr/>
        </p:nvSpPr>
        <p:spPr>
          <a:xfrm>
            <a:off x="268911" y="3325247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A272E590-D57C-6B74-B63F-0DBA8EBB7666}"/>
              </a:ext>
            </a:extLst>
          </p:cNvPr>
          <p:cNvCxnSpPr/>
          <p:nvPr/>
        </p:nvCxnSpPr>
        <p:spPr>
          <a:xfrm flipV="1">
            <a:off x="766938" y="2321585"/>
            <a:ext cx="1692723" cy="108911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BD47DCFC-688E-3BEF-1963-098E7A7EA744}"/>
              </a:ext>
            </a:extLst>
          </p:cNvPr>
          <p:cNvCxnSpPr>
            <a:cxnSpLocks/>
          </p:cNvCxnSpPr>
          <p:nvPr/>
        </p:nvCxnSpPr>
        <p:spPr>
          <a:xfrm>
            <a:off x="766938" y="3823276"/>
            <a:ext cx="1692722" cy="100020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ACE90851-E969-3F95-B350-D18362623515}"/>
              </a:ext>
            </a:extLst>
          </p:cNvPr>
          <p:cNvCxnSpPr>
            <a:cxnSpLocks/>
          </p:cNvCxnSpPr>
          <p:nvPr/>
        </p:nvCxnSpPr>
        <p:spPr>
          <a:xfrm flipH="1" flipV="1">
            <a:off x="3043136" y="2321585"/>
            <a:ext cx="1851482" cy="929722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30870107-00DC-F6C7-AB2A-32E92A1C3E29}"/>
              </a:ext>
            </a:extLst>
          </p:cNvPr>
          <p:cNvCxnSpPr>
            <a:cxnSpLocks/>
          </p:cNvCxnSpPr>
          <p:nvPr/>
        </p:nvCxnSpPr>
        <p:spPr>
          <a:xfrm flipH="1">
            <a:off x="3043135" y="3663886"/>
            <a:ext cx="1851483" cy="1159599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9E9176E0-CA0F-455C-0C31-5C9FAD0465E6}"/>
              </a:ext>
            </a:extLst>
          </p:cNvPr>
          <p:cNvCxnSpPr>
            <a:cxnSpLocks/>
          </p:cNvCxnSpPr>
          <p:nvPr/>
        </p:nvCxnSpPr>
        <p:spPr>
          <a:xfrm flipV="1">
            <a:off x="2751398" y="2613322"/>
            <a:ext cx="1" cy="1918425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B0CD4892-9107-EC69-A663-5EC5A4BB3981}"/>
              </a:ext>
            </a:extLst>
          </p:cNvPr>
          <p:cNvSpPr/>
          <p:nvPr/>
        </p:nvSpPr>
        <p:spPr>
          <a:xfrm>
            <a:off x="2794218" y="1160563"/>
            <a:ext cx="479559" cy="231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9E62ACE-3001-4160-4F1E-80A015BAE46D}"/>
              </a:ext>
            </a:extLst>
          </p:cNvPr>
          <p:cNvSpPr/>
          <p:nvPr/>
        </p:nvSpPr>
        <p:spPr>
          <a:xfrm>
            <a:off x="2803355" y="1160563"/>
            <a:ext cx="479559" cy="231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516BA2-6A16-29BC-DBC6-C0DEDE04737B}"/>
              </a:ext>
            </a:extLst>
          </p:cNvPr>
          <p:cNvSpPr/>
          <p:nvPr/>
        </p:nvSpPr>
        <p:spPr>
          <a:xfrm>
            <a:off x="2803355" y="1131084"/>
            <a:ext cx="479559" cy="290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723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004BE-88F6-36D2-1CFB-DEA029F9D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流程圖: 人工作業 29">
            <a:extLst>
              <a:ext uri="{FF2B5EF4-FFF2-40B4-BE49-F238E27FC236}">
                <a16:creationId xmlns:a16="http://schemas.microsoft.com/office/drawing/2014/main" id="{418A3943-6F7D-1895-B035-C6D2DAD5E541}"/>
              </a:ext>
            </a:extLst>
          </p:cNvPr>
          <p:cNvSpPr/>
          <p:nvPr/>
        </p:nvSpPr>
        <p:spPr>
          <a:xfrm flipV="1">
            <a:off x="6943508" y="2549220"/>
            <a:ext cx="2419328" cy="2948394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A6318C0-B690-423C-599C-2B8BEAE73984}"/>
              </a:ext>
            </a:extLst>
          </p:cNvPr>
          <p:cNvSpPr/>
          <p:nvPr/>
        </p:nvSpPr>
        <p:spPr>
          <a:xfrm>
            <a:off x="237067" y="5623650"/>
            <a:ext cx="10340236" cy="573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更新路徑：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dist[3] = 5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，並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push {5,3}</a:t>
            </a:r>
          </a:p>
        </p:txBody>
      </p:sp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392A5EA8-E44E-6379-BEE7-26EE364844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74654"/>
              </p:ext>
            </p:extLst>
          </p:nvPr>
        </p:nvGraphicFramePr>
        <p:xfrm>
          <a:off x="1162369" y="719666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976633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040504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520339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270940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77210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index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1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2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3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4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280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value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2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5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541040"/>
                  </a:ext>
                </a:extLst>
              </a:tr>
            </a:tbl>
          </a:graphicData>
        </a:graphic>
      </p:graphicFrame>
      <p:sp>
        <p:nvSpPr>
          <p:cNvPr id="57" name="矩形 56">
            <a:extLst>
              <a:ext uri="{FF2B5EF4-FFF2-40B4-BE49-F238E27FC236}">
                <a16:creationId xmlns:a16="http://schemas.microsoft.com/office/drawing/2014/main" id="{298D9DEB-A975-A0CC-6F6E-EFC2B2C08A11}"/>
              </a:ext>
            </a:extLst>
          </p:cNvPr>
          <p:cNvSpPr/>
          <p:nvPr/>
        </p:nvSpPr>
        <p:spPr>
          <a:xfrm>
            <a:off x="240318" y="730193"/>
            <a:ext cx="1199774" cy="7206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dis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035CDC0B-6B96-D17A-DFC7-DFEDABCC9811}"/>
              </a:ext>
            </a:extLst>
          </p:cNvPr>
          <p:cNvSpPr/>
          <p:nvPr/>
        </p:nvSpPr>
        <p:spPr>
          <a:xfrm>
            <a:off x="7015975" y="1903573"/>
            <a:ext cx="2274394" cy="520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priority_queue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與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 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的距離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點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7273376-E10F-66D3-D101-603C920F112D}"/>
              </a:ext>
            </a:extLst>
          </p:cNvPr>
          <p:cNvSpPr/>
          <p:nvPr/>
        </p:nvSpPr>
        <p:spPr>
          <a:xfrm>
            <a:off x="9520902" y="808341"/>
            <a:ext cx="2627655" cy="471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push {0,1}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{0,1}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dist[2] = 2  push {2,2}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dist[3] = 5  push {5,3}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{2,2}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dist[3] = 3  push {3,3}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dist[4] = 6  push {6,4}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{3,3}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dist[4] = 5  push {5,4}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{5,3}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continue {5,3}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{5,4}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{6,4}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continue {6,4}</a:t>
            </a:r>
          </a:p>
          <a:p>
            <a:endParaRPr lang="en-US" altLang="zh-TW" sz="14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dis[1] = 0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dis[2] = 2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dis[3] = 3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dis[4] = 5</a:t>
            </a:r>
            <a:endParaRPr lang="zh-TW" altLang="en-US" sz="14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1C8C487-526E-25F2-8DE3-7A72CE72495B}"/>
              </a:ext>
            </a:extLst>
          </p:cNvPr>
          <p:cNvSpPr/>
          <p:nvPr/>
        </p:nvSpPr>
        <p:spPr>
          <a:xfrm>
            <a:off x="7536291" y="3446414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{5,3}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A5C103-6319-685E-006F-F94526570344}"/>
              </a:ext>
            </a:extLst>
          </p:cNvPr>
          <p:cNvSpPr/>
          <p:nvPr/>
        </p:nvSpPr>
        <p:spPr>
          <a:xfrm>
            <a:off x="7536291" y="3075369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{2,2}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BED9AC2-F546-AD5E-E23E-82AB2D54448B}"/>
              </a:ext>
            </a:extLst>
          </p:cNvPr>
          <p:cNvSpPr/>
          <p:nvPr/>
        </p:nvSpPr>
        <p:spPr>
          <a:xfrm>
            <a:off x="7533040" y="2691553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{0,1}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69D2E079-168E-6BF6-3D4D-197ABFAE2C3D}"/>
              </a:ext>
            </a:extLst>
          </p:cNvPr>
          <p:cNvSpPr/>
          <p:nvPr/>
        </p:nvSpPr>
        <p:spPr>
          <a:xfrm>
            <a:off x="2462912" y="20298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C623155F-5871-00E2-1775-27F37526C85F}"/>
              </a:ext>
            </a:extLst>
          </p:cNvPr>
          <p:cNvSpPr/>
          <p:nvPr/>
        </p:nvSpPr>
        <p:spPr>
          <a:xfrm>
            <a:off x="2462911" y="45317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F1EE169E-0645-240F-9807-D90D750BCEB8}"/>
              </a:ext>
            </a:extLst>
          </p:cNvPr>
          <p:cNvSpPr/>
          <p:nvPr/>
        </p:nvSpPr>
        <p:spPr>
          <a:xfrm>
            <a:off x="4812421" y="3165859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D7C1F66-1FE4-614C-2E21-F9766124D85D}"/>
              </a:ext>
            </a:extLst>
          </p:cNvPr>
          <p:cNvSpPr/>
          <p:nvPr/>
        </p:nvSpPr>
        <p:spPr>
          <a:xfrm>
            <a:off x="1337130" y="2424150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1B768BF-195C-AEA5-CF5B-800E8AD32707}"/>
              </a:ext>
            </a:extLst>
          </p:cNvPr>
          <p:cNvSpPr/>
          <p:nvPr/>
        </p:nvSpPr>
        <p:spPr>
          <a:xfrm>
            <a:off x="1394133" y="4352359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CD138F5-469B-1C0B-87CD-FE1EC5778890}"/>
              </a:ext>
            </a:extLst>
          </p:cNvPr>
          <p:cNvSpPr/>
          <p:nvPr/>
        </p:nvSpPr>
        <p:spPr>
          <a:xfrm>
            <a:off x="2429420" y="3378467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CAA3ABB-A81F-F768-7F22-0F99A3CB6C11}"/>
              </a:ext>
            </a:extLst>
          </p:cNvPr>
          <p:cNvSpPr/>
          <p:nvPr/>
        </p:nvSpPr>
        <p:spPr>
          <a:xfrm>
            <a:off x="4098963" y="2357359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A39753C-0013-A091-9ADC-1E95D0A33AB0}"/>
              </a:ext>
            </a:extLst>
          </p:cNvPr>
          <p:cNvSpPr/>
          <p:nvPr/>
        </p:nvSpPr>
        <p:spPr>
          <a:xfrm>
            <a:off x="4176211" y="4204405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BF7B421C-B53E-765F-15B8-B035C5ADA271}"/>
              </a:ext>
            </a:extLst>
          </p:cNvPr>
          <p:cNvSpPr/>
          <p:nvPr/>
        </p:nvSpPr>
        <p:spPr>
          <a:xfrm>
            <a:off x="268911" y="3325247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A013868C-D6A6-D173-0825-BD796E366A54}"/>
              </a:ext>
            </a:extLst>
          </p:cNvPr>
          <p:cNvCxnSpPr/>
          <p:nvPr/>
        </p:nvCxnSpPr>
        <p:spPr>
          <a:xfrm flipV="1">
            <a:off x="766938" y="2321585"/>
            <a:ext cx="1692723" cy="108911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8E84B83C-409E-7DFB-5215-4A0327C5E95A}"/>
              </a:ext>
            </a:extLst>
          </p:cNvPr>
          <p:cNvCxnSpPr>
            <a:cxnSpLocks/>
          </p:cNvCxnSpPr>
          <p:nvPr/>
        </p:nvCxnSpPr>
        <p:spPr>
          <a:xfrm>
            <a:off x="766938" y="3823276"/>
            <a:ext cx="1692722" cy="100020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3059132C-EC9A-E706-EE1C-4C7CA9CD1938}"/>
              </a:ext>
            </a:extLst>
          </p:cNvPr>
          <p:cNvCxnSpPr>
            <a:cxnSpLocks/>
          </p:cNvCxnSpPr>
          <p:nvPr/>
        </p:nvCxnSpPr>
        <p:spPr>
          <a:xfrm flipH="1" flipV="1">
            <a:off x="3043136" y="2321585"/>
            <a:ext cx="1851482" cy="929722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504B9BB1-C8D9-C0F0-28F2-153B7F24BF1E}"/>
              </a:ext>
            </a:extLst>
          </p:cNvPr>
          <p:cNvCxnSpPr>
            <a:cxnSpLocks/>
          </p:cNvCxnSpPr>
          <p:nvPr/>
        </p:nvCxnSpPr>
        <p:spPr>
          <a:xfrm flipH="1">
            <a:off x="3043135" y="3663886"/>
            <a:ext cx="1851483" cy="1159599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3E45C1A5-C448-A800-CB6D-5FE8EF376E30}"/>
              </a:ext>
            </a:extLst>
          </p:cNvPr>
          <p:cNvCxnSpPr>
            <a:cxnSpLocks/>
          </p:cNvCxnSpPr>
          <p:nvPr/>
        </p:nvCxnSpPr>
        <p:spPr>
          <a:xfrm flipV="1">
            <a:off x="2751398" y="2613322"/>
            <a:ext cx="1" cy="1918425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B0ADE7B8-B9E0-3B62-9EA4-EC582FA92439}"/>
              </a:ext>
            </a:extLst>
          </p:cNvPr>
          <p:cNvSpPr/>
          <p:nvPr/>
        </p:nvSpPr>
        <p:spPr>
          <a:xfrm>
            <a:off x="2794218" y="1160563"/>
            <a:ext cx="479559" cy="231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4CB3E68-8777-EE54-8551-286A0CC19328}"/>
              </a:ext>
            </a:extLst>
          </p:cNvPr>
          <p:cNvSpPr/>
          <p:nvPr/>
        </p:nvSpPr>
        <p:spPr>
          <a:xfrm>
            <a:off x="2803355" y="1160563"/>
            <a:ext cx="479559" cy="231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5605E5B-1376-DE72-62E2-3802EEF51892}"/>
              </a:ext>
            </a:extLst>
          </p:cNvPr>
          <p:cNvSpPr/>
          <p:nvPr/>
        </p:nvSpPr>
        <p:spPr>
          <a:xfrm>
            <a:off x="2803355" y="1131084"/>
            <a:ext cx="479559" cy="290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917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D3D1A-B973-3EB0-A587-9D4C2603B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流程圖: 人工作業 29">
            <a:extLst>
              <a:ext uri="{FF2B5EF4-FFF2-40B4-BE49-F238E27FC236}">
                <a16:creationId xmlns:a16="http://schemas.microsoft.com/office/drawing/2014/main" id="{BF9CBBB3-ACF5-36BA-BF4D-59547434569B}"/>
              </a:ext>
            </a:extLst>
          </p:cNvPr>
          <p:cNvSpPr/>
          <p:nvPr/>
        </p:nvSpPr>
        <p:spPr>
          <a:xfrm flipV="1">
            <a:off x="6943508" y="2549220"/>
            <a:ext cx="2419328" cy="2948394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A25B915-83F6-8CF9-DF1C-06DC421129C5}"/>
              </a:ext>
            </a:extLst>
          </p:cNvPr>
          <p:cNvSpPr/>
          <p:nvPr/>
        </p:nvSpPr>
        <p:spPr>
          <a:xfrm>
            <a:off x="237067" y="5623650"/>
            <a:ext cx="10340236" cy="573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取出最小的：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{2,2}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D53B20A6-D7AB-AE51-0AAC-BDEF8E4B6C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85376"/>
              </p:ext>
            </p:extLst>
          </p:nvPr>
        </p:nvGraphicFramePr>
        <p:xfrm>
          <a:off x="1162369" y="719666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976633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040504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520339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270940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77210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index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1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2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3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4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280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value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2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5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541040"/>
                  </a:ext>
                </a:extLst>
              </a:tr>
            </a:tbl>
          </a:graphicData>
        </a:graphic>
      </p:graphicFrame>
      <p:sp>
        <p:nvSpPr>
          <p:cNvPr id="57" name="矩形 56">
            <a:extLst>
              <a:ext uri="{FF2B5EF4-FFF2-40B4-BE49-F238E27FC236}">
                <a16:creationId xmlns:a16="http://schemas.microsoft.com/office/drawing/2014/main" id="{0BA7D576-B784-7E25-CAC6-FA9B86174E56}"/>
              </a:ext>
            </a:extLst>
          </p:cNvPr>
          <p:cNvSpPr/>
          <p:nvPr/>
        </p:nvSpPr>
        <p:spPr>
          <a:xfrm>
            <a:off x="240318" y="730193"/>
            <a:ext cx="1199774" cy="7206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dis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0A25658F-D6CF-A93D-977F-174B57005139}"/>
              </a:ext>
            </a:extLst>
          </p:cNvPr>
          <p:cNvSpPr/>
          <p:nvPr/>
        </p:nvSpPr>
        <p:spPr>
          <a:xfrm>
            <a:off x="7015975" y="1903573"/>
            <a:ext cx="2274394" cy="520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priority_queue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與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 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的距離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點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D8436E-6D5E-0D7E-3BD1-3575B02A2C5E}"/>
              </a:ext>
            </a:extLst>
          </p:cNvPr>
          <p:cNvSpPr/>
          <p:nvPr/>
        </p:nvSpPr>
        <p:spPr>
          <a:xfrm>
            <a:off x="9520902" y="808341"/>
            <a:ext cx="2627655" cy="471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push {0,1}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{0,1}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dist[2] = 2  push {2,2}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dist[3] = 5  push {5,3}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{2,2}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dist[3] = 3  push {3,3}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dist[4] = 6  push {6,4}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{3,3}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dist[4] = 5  push {5,4}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{5,3}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continue {5,3}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{5,4}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{6,4}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continue {6,4}</a:t>
            </a:r>
          </a:p>
          <a:p>
            <a:endParaRPr lang="en-US" altLang="zh-TW" sz="14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dis[1] = 0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dis[2] = 2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dis[3] = 3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dis[4] = 5</a:t>
            </a:r>
            <a:endParaRPr lang="zh-TW" altLang="en-US" sz="14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7831955-811E-17A6-2841-FFCD28ECA952}"/>
              </a:ext>
            </a:extLst>
          </p:cNvPr>
          <p:cNvSpPr/>
          <p:nvPr/>
        </p:nvSpPr>
        <p:spPr>
          <a:xfrm>
            <a:off x="7536291" y="3446414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{5,3}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9A1511-81AF-A2B3-9946-CA963519A2DF}"/>
              </a:ext>
            </a:extLst>
          </p:cNvPr>
          <p:cNvSpPr/>
          <p:nvPr/>
        </p:nvSpPr>
        <p:spPr>
          <a:xfrm>
            <a:off x="7536291" y="3075369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{2,2}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2724090-AF5B-AF8B-0D9E-29BDDC5FB069}"/>
              </a:ext>
            </a:extLst>
          </p:cNvPr>
          <p:cNvSpPr/>
          <p:nvPr/>
        </p:nvSpPr>
        <p:spPr>
          <a:xfrm>
            <a:off x="7533040" y="2691553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{0,1}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C7BFD979-8F39-29A7-EEC4-095B7AD549DF}"/>
              </a:ext>
            </a:extLst>
          </p:cNvPr>
          <p:cNvSpPr/>
          <p:nvPr/>
        </p:nvSpPr>
        <p:spPr>
          <a:xfrm>
            <a:off x="2462912" y="2029847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E868151F-E59D-CDC5-8EC7-0CBE3901D22E}"/>
              </a:ext>
            </a:extLst>
          </p:cNvPr>
          <p:cNvSpPr/>
          <p:nvPr/>
        </p:nvSpPr>
        <p:spPr>
          <a:xfrm>
            <a:off x="2462911" y="45317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950BF42F-5738-5E24-3A96-AFD7E054E050}"/>
              </a:ext>
            </a:extLst>
          </p:cNvPr>
          <p:cNvSpPr/>
          <p:nvPr/>
        </p:nvSpPr>
        <p:spPr>
          <a:xfrm>
            <a:off x="4812421" y="3165859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A54C3FE2-B3B4-CD78-6710-0B03EAABCEA0}"/>
              </a:ext>
            </a:extLst>
          </p:cNvPr>
          <p:cNvSpPr/>
          <p:nvPr/>
        </p:nvSpPr>
        <p:spPr>
          <a:xfrm>
            <a:off x="1337130" y="2424150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F5EB90BC-4CE9-A5CF-5DCE-B14F5E129C2A}"/>
              </a:ext>
            </a:extLst>
          </p:cNvPr>
          <p:cNvSpPr/>
          <p:nvPr/>
        </p:nvSpPr>
        <p:spPr>
          <a:xfrm>
            <a:off x="1394133" y="4352359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9B414952-A34A-9B7A-38EB-1E77E97805BE}"/>
              </a:ext>
            </a:extLst>
          </p:cNvPr>
          <p:cNvSpPr/>
          <p:nvPr/>
        </p:nvSpPr>
        <p:spPr>
          <a:xfrm>
            <a:off x="2429420" y="3378467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92741123-66FA-DFE8-6D66-CC27C0626A66}"/>
              </a:ext>
            </a:extLst>
          </p:cNvPr>
          <p:cNvSpPr/>
          <p:nvPr/>
        </p:nvSpPr>
        <p:spPr>
          <a:xfrm>
            <a:off x="4098963" y="2357359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C71BECB-8DE9-559F-9BC3-1404A17A11AF}"/>
              </a:ext>
            </a:extLst>
          </p:cNvPr>
          <p:cNvSpPr/>
          <p:nvPr/>
        </p:nvSpPr>
        <p:spPr>
          <a:xfrm>
            <a:off x="4176211" y="4204405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3" name="橢圓 72">
            <a:extLst>
              <a:ext uri="{FF2B5EF4-FFF2-40B4-BE49-F238E27FC236}">
                <a16:creationId xmlns:a16="http://schemas.microsoft.com/office/drawing/2014/main" id="{043F938B-50E2-44D1-01C3-2E18EA2FE8C8}"/>
              </a:ext>
            </a:extLst>
          </p:cNvPr>
          <p:cNvSpPr/>
          <p:nvPr/>
        </p:nvSpPr>
        <p:spPr>
          <a:xfrm>
            <a:off x="268911" y="3325247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74" name="直線接點 73">
            <a:extLst>
              <a:ext uri="{FF2B5EF4-FFF2-40B4-BE49-F238E27FC236}">
                <a16:creationId xmlns:a16="http://schemas.microsoft.com/office/drawing/2014/main" id="{E9075CAB-BE5B-6945-1055-545C2CAD0D60}"/>
              </a:ext>
            </a:extLst>
          </p:cNvPr>
          <p:cNvCxnSpPr/>
          <p:nvPr/>
        </p:nvCxnSpPr>
        <p:spPr>
          <a:xfrm flipV="1">
            <a:off x="766938" y="2321585"/>
            <a:ext cx="1692723" cy="108911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>
            <a:extLst>
              <a:ext uri="{FF2B5EF4-FFF2-40B4-BE49-F238E27FC236}">
                <a16:creationId xmlns:a16="http://schemas.microsoft.com/office/drawing/2014/main" id="{C6B479E9-1EF6-0C30-B9A6-5EDE91317381}"/>
              </a:ext>
            </a:extLst>
          </p:cNvPr>
          <p:cNvCxnSpPr>
            <a:cxnSpLocks/>
          </p:cNvCxnSpPr>
          <p:nvPr/>
        </p:nvCxnSpPr>
        <p:spPr>
          <a:xfrm>
            <a:off x="766938" y="3823276"/>
            <a:ext cx="1692722" cy="100020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>
            <a:extLst>
              <a:ext uri="{FF2B5EF4-FFF2-40B4-BE49-F238E27FC236}">
                <a16:creationId xmlns:a16="http://schemas.microsoft.com/office/drawing/2014/main" id="{3CB16B9D-CD96-D8F5-3FF3-475D0A33010A}"/>
              </a:ext>
            </a:extLst>
          </p:cNvPr>
          <p:cNvCxnSpPr>
            <a:cxnSpLocks/>
          </p:cNvCxnSpPr>
          <p:nvPr/>
        </p:nvCxnSpPr>
        <p:spPr>
          <a:xfrm flipH="1" flipV="1">
            <a:off x="3043136" y="2321585"/>
            <a:ext cx="1851482" cy="929722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738308AD-64EB-A7A1-5984-3C7B7232F5C0}"/>
              </a:ext>
            </a:extLst>
          </p:cNvPr>
          <p:cNvCxnSpPr>
            <a:cxnSpLocks/>
          </p:cNvCxnSpPr>
          <p:nvPr/>
        </p:nvCxnSpPr>
        <p:spPr>
          <a:xfrm flipH="1">
            <a:off x="3043135" y="3663886"/>
            <a:ext cx="1851483" cy="1159599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32731EF9-9A82-7D39-BD91-42F0C2FCA928}"/>
              </a:ext>
            </a:extLst>
          </p:cNvPr>
          <p:cNvCxnSpPr>
            <a:cxnSpLocks/>
          </p:cNvCxnSpPr>
          <p:nvPr/>
        </p:nvCxnSpPr>
        <p:spPr>
          <a:xfrm flipV="1">
            <a:off x="2751398" y="2613322"/>
            <a:ext cx="1" cy="1918425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矩形 79">
            <a:extLst>
              <a:ext uri="{FF2B5EF4-FFF2-40B4-BE49-F238E27FC236}">
                <a16:creationId xmlns:a16="http://schemas.microsoft.com/office/drawing/2014/main" id="{268980A3-5912-DB1E-E2C0-E5BCFCD3538A}"/>
              </a:ext>
            </a:extLst>
          </p:cNvPr>
          <p:cNvSpPr/>
          <p:nvPr/>
        </p:nvSpPr>
        <p:spPr>
          <a:xfrm>
            <a:off x="2794218" y="1160563"/>
            <a:ext cx="479559" cy="231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296A196B-2BBC-995D-5E2E-FF6B2AC787A8}"/>
              </a:ext>
            </a:extLst>
          </p:cNvPr>
          <p:cNvSpPr/>
          <p:nvPr/>
        </p:nvSpPr>
        <p:spPr>
          <a:xfrm>
            <a:off x="2803355" y="1160563"/>
            <a:ext cx="479559" cy="231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36E531-5C2D-0604-79F6-103D9D26DB50}"/>
              </a:ext>
            </a:extLst>
          </p:cNvPr>
          <p:cNvSpPr/>
          <p:nvPr/>
        </p:nvSpPr>
        <p:spPr>
          <a:xfrm>
            <a:off x="2803355" y="1131084"/>
            <a:ext cx="479559" cy="290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393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B773F-2F60-549A-D324-4CAED782C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流程圖: 人工作業 29">
            <a:extLst>
              <a:ext uri="{FF2B5EF4-FFF2-40B4-BE49-F238E27FC236}">
                <a16:creationId xmlns:a16="http://schemas.microsoft.com/office/drawing/2014/main" id="{7C458B5B-C39C-EB2A-E7C3-13FA95D597A4}"/>
              </a:ext>
            </a:extLst>
          </p:cNvPr>
          <p:cNvSpPr/>
          <p:nvPr/>
        </p:nvSpPr>
        <p:spPr>
          <a:xfrm flipV="1">
            <a:off x="6943508" y="2549220"/>
            <a:ext cx="2419328" cy="2948394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136C48A-891B-1012-B205-4FE11A4DD4D7}"/>
              </a:ext>
            </a:extLst>
          </p:cNvPr>
          <p:cNvSpPr/>
          <p:nvPr/>
        </p:nvSpPr>
        <p:spPr>
          <a:xfrm>
            <a:off x="237067" y="5623650"/>
            <a:ext cx="10340236" cy="573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更新路徑：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dist[3] = 3 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，並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push {3,3}</a:t>
            </a:r>
          </a:p>
        </p:txBody>
      </p:sp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091AEE7C-999A-CD27-A110-3F791B9D99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278709"/>
              </p:ext>
            </p:extLst>
          </p:nvPr>
        </p:nvGraphicFramePr>
        <p:xfrm>
          <a:off x="1162369" y="719666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976633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040504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520339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270940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77210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index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1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2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3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4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280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value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2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3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541040"/>
                  </a:ext>
                </a:extLst>
              </a:tr>
            </a:tbl>
          </a:graphicData>
        </a:graphic>
      </p:graphicFrame>
      <p:sp>
        <p:nvSpPr>
          <p:cNvPr id="57" name="矩形 56">
            <a:extLst>
              <a:ext uri="{FF2B5EF4-FFF2-40B4-BE49-F238E27FC236}">
                <a16:creationId xmlns:a16="http://schemas.microsoft.com/office/drawing/2014/main" id="{A6F3F54C-2CD6-9679-E263-73A895043F53}"/>
              </a:ext>
            </a:extLst>
          </p:cNvPr>
          <p:cNvSpPr/>
          <p:nvPr/>
        </p:nvSpPr>
        <p:spPr>
          <a:xfrm>
            <a:off x="240318" y="730193"/>
            <a:ext cx="1199774" cy="7206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dis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CFCE7942-B0D0-10C0-B659-178DC5741C42}"/>
              </a:ext>
            </a:extLst>
          </p:cNvPr>
          <p:cNvSpPr/>
          <p:nvPr/>
        </p:nvSpPr>
        <p:spPr>
          <a:xfrm>
            <a:off x="7015975" y="1903573"/>
            <a:ext cx="2274394" cy="520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priority_queue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與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 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的距離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點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1ACEB7-599C-13D6-E60C-98E62EDE74D6}"/>
              </a:ext>
            </a:extLst>
          </p:cNvPr>
          <p:cNvSpPr/>
          <p:nvPr/>
        </p:nvSpPr>
        <p:spPr>
          <a:xfrm>
            <a:off x="9520902" y="808341"/>
            <a:ext cx="2627655" cy="471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push {0,1}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{0,1}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dist[2] = 2  push {2,2}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dist[3] = 5  push {5,3}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{2,2}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dist[3] = 3  push {3,3}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dist[4] = 6  push {6,4}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{3,3}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dist[4] = 5  push {5,4}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{5,3}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continue {5,3}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{5,4}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{6,4}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continue {6,4}</a:t>
            </a:r>
          </a:p>
          <a:p>
            <a:endParaRPr lang="en-US" altLang="zh-TW" sz="14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dis[1] = 0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dis[2] = 2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dis[3] = 3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dis[4] = 5</a:t>
            </a:r>
            <a:endParaRPr lang="zh-TW" altLang="en-US" sz="14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5AD79C-3B8B-7FA7-115B-C4992860979C}"/>
              </a:ext>
            </a:extLst>
          </p:cNvPr>
          <p:cNvSpPr/>
          <p:nvPr/>
        </p:nvSpPr>
        <p:spPr>
          <a:xfrm>
            <a:off x="7536291" y="3827369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{5,3}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E42484C-F77B-F3C0-6F09-9BF10C4E8B1A}"/>
              </a:ext>
            </a:extLst>
          </p:cNvPr>
          <p:cNvSpPr/>
          <p:nvPr/>
        </p:nvSpPr>
        <p:spPr>
          <a:xfrm>
            <a:off x="7536291" y="3075369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{2,2}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A61F08E-1B8B-E3BB-66C2-34237393AAEC}"/>
              </a:ext>
            </a:extLst>
          </p:cNvPr>
          <p:cNvSpPr/>
          <p:nvPr/>
        </p:nvSpPr>
        <p:spPr>
          <a:xfrm>
            <a:off x="7533040" y="2691553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{0,1}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31D33A-79A2-6805-CC97-4D41C7743B87}"/>
              </a:ext>
            </a:extLst>
          </p:cNvPr>
          <p:cNvSpPr/>
          <p:nvPr/>
        </p:nvSpPr>
        <p:spPr>
          <a:xfrm>
            <a:off x="7536291" y="3437483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{3,3}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1" name="橢圓 70">
            <a:extLst>
              <a:ext uri="{FF2B5EF4-FFF2-40B4-BE49-F238E27FC236}">
                <a16:creationId xmlns:a16="http://schemas.microsoft.com/office/drawing/2014/main" id="{06E9F789-18F8-0EA0-672F-D672C7026CFD}"/>
              </a:ext>
            </a:extLst>
          </p:cNvPr>
          <p:cNvSpPr/>
          <p:nvPr/>
        </p:nvSpPr>
        <p:spPr>
          <a:xfrm>
            <a:off x="2462911" y="45317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3" name="橢圓 72">
            <a:extLst>
              <a:ext uri="{FF2B5EF4-FFF2-40B4-BE49-F238E27FC236}">
                <a16:creationId xmlns:a16="http://schemas.microsoft.com/office/drawing/2014/main" id="{BCC7A1EC-55D8-B80A-4F9B-1769AD1F3953}"/>
              </a:ext>
            </a:extLst>
          </p:cNvPr>
          <p:cNvSpPr/>
          <p:nvPr/>
        </p:nvSpPr>
        <p:spPr>
          <a:xfrm>
            <a:off x="4812421" y="3165859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208E9F2A-B4B2-03C4-94FD-1FE9C6312E5D}"/>
              </a:ext>
            </a:extLst>
          </p:cNvPr>
          <p:cNvSpPr/>
          <p:nvPr/>
        </p:nvSpPr>
        <p:spPr>
          <a:xfrm>
            <a:off x="1337130" y="2424150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E7500745-5AED-D9F3-84A6-E1E58BEB645F}"/>
              </a:ext>
            </a:extLst>
          </p:cNvPr>
          <p:cNvSpPr/>
          <p:nvPr/>
        </p:nvSpPr>
        <p:spPr>
          <a:xfrm>
            <a:off x="1394133" y="4352359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79897C8-BC5C-4C05-DBAC-F79622DD8027}"/>
              </a:ext>
            </a:extLst>
          </p:cNvPr>
          <p:cNvSpPr/>
          <p:nvPr/>
        </p:nvSpPr>
        <p:spPr>
          <a:xfrm>
            <a:off x="2429420" y="3378467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032C4A3C-614A-02EB-0844-E153879003FA}"/>
              </a:ext>
            </a:extLst>
          </p:cNvPr>
          <p:cNvSpPr/>
          <p:nvPr/>
        </p:nvSpPr>
        <p:spPr>
          <a:xfrm>
            <a:off x="4098963" y="2357359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8963136B-3DE8-6555-3497-8186765D75AA}"/>
              </a:ext>
            </a:extLst>
          </p:cNvPr>
          <p:cNvSpPr/>
          <p:nvPr/>
        </p:nvSpPr>
        <p:spPr>
          <a:xfrm>
            <a:off x="4176211" y="4204405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3" name="橢圓 82">
            <a:extLst>
              <a:ext uri="{FF2B5EF4-FFF2-40B4-BE49-F238E27FC236}">
                <a16:creationId xmlns:a16="http://schemas.microsoft.com/office/drawing/2014/main" id="{A6089AFB-7685-0B99-BFA9-E091A18B06D6}"/>
              </a:ext>
            </a:extLst>
          </p:cNvPr>
          <p:cNvSpPr/>
          <p:nvPr/>
        </p:nvSpPr>
        <p:spPr>
          <a:xfrm>
            <a:off x="2462912" y="2029847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5" name="橢圓 84">
            <a:extLst>
              <a:ext uri="{FF2B5EF4-FFF2-40B4-BE49-F238E27FC236}">
                <a16:creationId xmlns:a16="http://schemas.microsoft.com/office/drawing/2014/main" id="{AB98AABA-F843-4148-9ED6-6C1320B48DC6}"/>
              </a:ext>
            </a:extLst>
          </p:cNvPr>
          <p:cNvSpPr/>
          <p:nvPr/>
        </p:nvSpPr>
        <p:spPr>
          <a:xfrm>
            <a:off x="268911" y="3325247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86" name="直線接點 85">
            <a:extLst>
              <a:ext uri="{FF2B5EF4-FFF2-40B4-BE49-F238E27FC236}">
                <a16:creationId xmlns:a16="http://schemas.microsoft.com/office/drawing/2014/main" id="{9E326294-A371-6FFE-A40B-822866C5A1F8}"/>
              </a:ext>
            </a:extLst>
          </p:cNvPr>
          <p:cNvCxnSpPr/>
          <p:nvPr/>
        </p:nvCxnSpPr>
        <p:spPr>
          <a:xfrm flipV="1">
            <a:off x="766938" y="2321585"/>
            <a:ext cx="1692723" cy="108911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>
            <a:extLst>
              <a:ext uri="{FF2B5EF4-FFF2-40B4-BE49-F238E27FC236}">
                <a16:creationId xmlns:a16="http://schemas.microsoft.com/office/drawing/2014/main" id="{00A284BF-EB2A-9B00-5233-B3676D46CE86}"/>
              </a:ext>
            </a:extLst>
          </p:cNvPr>
          <p:cNvCxnSpPr>
            <a:cxnSpLocks/>
          </p:cNvCxnSpPr>
          <p:nvPr/>
        </p:nvCxnSpPr>
        <p:spPr>
          <a:xfrm>
            <a:off x="766938" y="3823276"/>
            <a:ext cx="1692722" cy="100020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>
            <a:extLst>
              <a:ext uri="{FF2B5EF4-FFF2-40B4-BE49-F238E27FC236}">
                <a16:creationId xmlns:a16="http://schemas.microsoft.com/office/drawing/2014/main" id="{85616928-71D1-DA1D-01FB-342075D898CF}"/>
              </a:ext>
            </a:extLst>
          </p:cNvPr>
          <p:cNvCxnSpPr>
            <a:cxnSpLocks/>
          </p:cNvCxnSpPr>
          <p:nvPr/>
        </p:nvCxnSpPr>
        <p:spPr>
          <a:xfrm flipH="1" flipV="1">
            <a:off x="3043136" y="2321585"/>
            <a:ext cx="1851482" cy="929722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>
            <a:extLst>
              <a:ext uri="{FF2B5EF4-FFF2-40B4-BE49-F238E27FC236}">
                <a16:creationId xmlns:a16="http://schemas.microsoft.com/office/drawing/2014/main" id="{D20FE9E3-8E52-4FDE-F7DB-5827FD627FEC}"/>
              </a:ext>
            </a:extLst>
          </p:cNvPr>
          <p:cNvCxnSpPr>
            <a:cxnSpLocks/>
          </p:cNvCxnSpPr>
          <p:nvPr/>
        </p:nvCxnSpPr>
        <p:spPr>
          <a:xfrm flipH="1">
            <a:off x="3043135" y="3663886"/>
            <a:ext cx="1851483" cy="1159599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>
            <a:extLst>
              <a:ext uri="{FF2B5EF4-FFF2-40B4-BE49-F238E27FC236}">
                <a16:creationId xmlns:a16="http://schemas.microsoft.com/office/drawing/2014/main" id="{8C51507A-CC8A-E892-D377-3450EFC4E7AE}"/>
              </a:ext>
            </a:extLst>
          </p:cNvPr>
          <p:cNvCxnSpPr>
            <a:cxnSpLocks/>
          </p:cNvCxnSpPr>
          <p:nvPr/>
        </p:nvCxnSpPr>
        <p:spPr>
          <a:xfrm flipV="1">
            <a:off x="2751398" y="2613322"/>
            <a:ext cx="1" cy="1918425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 91">
            <a:extLst>
              <a:ext uri="{FF2B5EF4-FFF2-40B4-BE49-F238E27FC236}">
                <a16:creationId xmlns:a16="http://schemas.microsoft.com/office/drawing/2014/main" id="{C2F09D47-31C7-AFF4-619A-61AFBA06B4D3}"/>
              </a:ext>
            </a:extLst>
          </p:cNvPr>
          <p:cNvSpPr/>
          <p:nvPr/>
        </p:nvSpPr>
        <p:spPr>
          <a:xfrm>
            <a:off x="2794218" y="1160563"/>
            <a:ext cx="479559" cy="231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16031F0B-6EC3-25AD-7BFA-E96BD3ACB40A}"/>
              </a:ext>
            </a:extLst>
          </p:cNvPr>
          <p:cNvSpPr/>
          <p:nvPr/>
        </p:nvSpPr>
        <p:spPr>
          <a:xfrm>
            <a:off x="2803355" y="1160563"/>
            <a:ext cx="479559" cy="231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BC7ADD-8769-82AF-389D-D1B4D16A4FB6}"/>
              </a:ext>
            </a:extLst>
          </p:cNvPr>
          <p:cNvSpPr/>
          <p:nvPr/>
        </p:nvSpPr>
        <p:spPr>
          <a:xfrm>
            <a:off x="2803355" y="1131084"/>
            <a:ext cx="479559" cy="290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803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350B2-305E-ECC3-E972-C23853122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流程圖: 人工作業 29">
            <a:extLst>
              <a:ext uri="{FF2B5EF4-FFF2-40B4-BE49-F238E27FC236}">
                <a16:creationId xmlns:a16="http://schemas.microsoft.com/office/drawing/2014/main" id="{26889DF7-99EE-D46E-9426-FEB4377F91F0}"/>
              </a:ext>
            </a:extLst>
          </p:cNvPr>
          <p:cNvSpPr/>
          <p:nvPr/>
        </p:nvSpPr>
        <p:spPr>
          <a:xfrm flipV="1">
            <a:off x="6943508" y="2549220"/>
            <a:ext cx="2419328" cy="2948394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7817119-E534-CCEF-4E19-7416E68B0F1F}"/>
              </a:ext>
            </a:extLst>
          </p:cNvPr>
          <p:cNvSpPr/>
          <p:nvPr/>
        </p:nvSpPr>
        <p:spPr>
          <a:xfrm>
            <a:off x="237067" y="5623650"/>
            <a:ext cx="10340236" cy="573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更新路徑：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dist[4] = 6 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，並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push {6,4}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endParaRPr lang="en-US" altLang="zh-TW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52510377-6D9C-51F7-710E-EE8F7D9F3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301196"/>
              </p:ext>
            </p:extLst>
          </p:nvPr>
        </p:nvGraphicFramePr>
        <p:xfrm>
          <a:off x="1162369" y="719666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976633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040504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520339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270940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77210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index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1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2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3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4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280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value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2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3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6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541040"/>
                  </a:ext>
                </a:extLst>
              </a:tr>
            </a:tbl>
          </a:graphicData>
        </a:graphic>
      </p:graphicFrame>
      <p:sp>
        <p:nvSpPr>
          <p:cNvPr id="57" name="矩形 56">
            <a:extLst>
              <a:ext uri="{FF2B5EF4-FFF2-40B4-BE49-F238E27FC236}">
                <a16:creationId xmlns:a16="http://schemas.microsoft.com/office/drawing/2014/main" id="{BAFC1AA1-7A6D-49C0-A2FD-9E0BE8700119}"/>
              </a:ext>
            </a:extLst>
          </p:cNvPr>
          <p:cNvSpPr/>
          <p:nvPr/>
        </p:nvSpPr>
        <p:spPr>
          <a:xfrm>
            <a:off x="240318" y="730193"/>
            <a:ext cx="1199774" cy="7206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dis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473BB68-AC54-C8C0-3A8B-3CF7C63D0D9B}"/>
              </a:ext>
            </a:extLst>
          </p:cNvPr>
          <p:cNvSpPr/>
          <p:nvPr/>
        </p:nvSpPr>
        <p:spPr>
          <a:xfrm>
            <a:off x="7015975" y="1903573"/>
            <a:ext cx="2274394" cy="520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priority_queue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與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 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的距離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點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AF71EA4-1E00-D4C5-8368-3B898003E417}"/>
              </a:ext>
            </a:extLst>
          </p:cNvPr>
          <p:cNvSpPr/>
          <p:nvPr/>
        </p:nvSpPr>
        <p:spPr>
          <a:xfrm>
            <a:off x="9520902" y="808341"/>
            <a:ext cx="2627655" cy="471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push {0,1}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{0,1}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dist[2] = 2  push {2,2}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dist[3] = 5  push {5,3}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{2,2}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dist[3] = 3  push {3,3}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dist[4] = 6  push {6,4}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{3,3}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dist[4] = 5  push {5,4}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{5,3}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continue {5,3}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{5,4}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{6,4}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continue {6,4}</a:t>
            </a:r>
          </a:p>
          <a:p>
            <a:endParaRPr lang="en-US" altLang="zh-TW" sz="14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dis[1] = 0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dis[2] = 2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dis[3] = 3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dis[4] = 5</a:t>
            </a:r>
            <a:endParaRPr lang="zh-TW" altLang="en-US" sz="14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2E66DF-D188-6F0E-CF99-99AF716FB5FA}"/>
              </a:ext>
            </a:extLst>
          </p:cNvPr>
          <p:cNvSpPr/>
          <p:nvPr/>
        </p:nvSpPr>
        <p:spPr>
          <a:xfrm>
            <a:off x="7536291" y="3075369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{2,2}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DA3334-75C7-8928-0539-7D8C1721C2DC}"/>
              </a:ext>
            </a:extLst>
          </p:cNvPr>
          <p:cNvSpPr/>
          <p:nvPr/>
        </p:nvSpPr>
        <p:spPr>
          <a:xfrm>
            <a:off x="7533040" y="2691553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{0,1}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55848A5-FAD2-7FB4-EDEE-6DCB11AA7B88}"/>
              </a:ext>
            </a:extLst>
          </p:cNvPr>
          <p:cNvSpPr/>
          <p:nvPr/>
        </p:nvSpPr>
        <p:spPr>
          <a:xfrm>
            <a:off x="7533039" y="4168181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{6,4}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20DECC9C-4C82-5A1C-4177-00A51145FA4D}"/>
              </a:ext>
            </a:extLst>
          </p:cNvPr>
          <p:cNvSpPr/>
          <p:nvPr/>
        </p:nvSpPr>
        <p:spPr>
          <a:xfrm>
            <a:off x="272162" y="33252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DC4AD2B2-F604-439D-C12D-04ED52A9D9CC}"/>
              </a:ext>
            </a:extLst>
          </p:cNvPr>
          <p:cNvSpPr/>
          <p:nvPr/>
        </p:nvSpPr>
        <p:spPr>
          <a:xfrm>
            <a:off x="2462912" y="20298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4D6731D1-F013-690B-E1AF-8B5608835A78}"/>
              </a:ext>
            </a:extLst>
          </p:cNvPr>
          <p:cNvCxnSpPr>
            <a:stCxn id="28" idx="7"/>
            <a:endCxn id="29" idx="2"/>
          </p:cNvCxnSpPr>
          <p:nvPr/>
        </p:nvCxnSpPr>
        <p:spPr>
          <a:xfrm flipV="1">
            <a:off x="770189" y="2321585"/>
            <a:ext cx="1692723" cy="108911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橢圓 32">
            <a:extLst>
              <a:ext uri="{FF2B5EF4-FFF2-40B4-BE49-F238E27FC236}">
                <a16:creationId xmlns:a16="http://schemas.microsoft.com/office/drawing/2014/main" id="{4B85CB20-E8D8-0DC0-A609-392D2548825E}"/>
              </a:ext>
            </a:extLst>
          </p:cNvPr>
          <p:cNvSpPr/>
          <p:nvPr/>
        </p:nvSpPr>
        <p:spPr>
          <a:xfrm>
            <a:off x="2462911" y="45317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BE6FA732-DE60-DAF0-56C8-980B18D60017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770189" y="3823276"/>
            <a:ext cx="1692722" cy="100020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橢圓 36">
            <a:extLst>
              <a:ext uri="{FF2B5EF4-FFF2-40B4-BE49-F238E27FC236}">
                <a16:creationId xmlns:a16="http://schemas.microsoft.com/office/drawing/2014/main" id="{C444B64F-9190-1C60-6E35-D99535296060}"/>
              </a:ext>
            </a:extLst>
          </p:cNvPr>
          <p:cNvSpPr/>
          <p:nvPr/>
        </p:nvSpPr>
        <p:spPr>
          <a:xfrm>
            <a:off x="4812421" y="3165859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02CE68F6-E389-DD8F-0D4F-29BBE69CC9BE}"/>
              </a:ext>
            </a:extLst>
          </p:cNvPr>
          <p:cNvCxnSpPr>
            <a:cxnSpLocks/>
            <a:stCxn id="37" idx="1"/>
            <a:endCxn id="29" idx="6"/>
          </p:cNvCxnSpPr>
          <p:nvPr/>
        </p:nvCxnSpPr>
        <p:spPr>
          <a:xfrm flipH="1" flipV="1">
            <a:off x="3046387" y="2321585"/>
            <a:ext cx="1851482" cy="9297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193E8740-D7AA-AE8F-67FA-9EE28572C081}"/>
              </a:ext>
            </a:extLst>
          </p:cNvPr>
          <p:cNvCxnSpPr>
            <a:cxnSpLocks/>
            <a:stCxn id="37" idx="3"/>
            <a:endCxn id="33" idx="6"/>
          </p:cNvCxnSpPr>
          <p:nvPr/>
        </p:nvCxnSpPr>
        <p:spPr>
          <a:xfrm flipH="1">
            <a:off x="3046386" y="3663886"/>
            <a:ext cx="1851483" cy="11595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F100D72D-1E75-7F48-D1F7-22CE7A705509}"/>
              </a:ext>
            </a:extLst>
          </p:cNvPr>
          <p:cNvCxnSpPr>
            <a:cxnSpLocks/>
            <a:stCxn id="33" idx="0"/>
            <a:endCxn id="29" idx="4"/>
          </p:cNvCxnSpPr>
          <p:nvPr/>
        </p:nvCxnSpPr>
        <p:spPr>
          <a:xfrm flipV="1">
            <a:off x="2754649" y="2613322"/>
            <a:ext cx="1" cy="19184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DCF4DC7B-7B76-6889-DEED-30A3CB8F737E}"/>
              </a:ext>
            </a:extLst>
          </p:cNvPr>
          <p:cNvSpPr/>
          <p:nvPr/>
        </p:nvSpPr>
        <p:spPr>
          <a:xfrm>
            <a:off x="1337130" y="2424150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187EF5E-CF75-9469-7B90-CD86A0BE6ED7}"/>
              </a:ext>
            </a:extLst>
          </p:cNvPr>
          <p:cNvSpPr/>
          <p:nvPr/>
        </p:nvSpPr>
        <p:spPr>
          <a:xfrm>
            <a:off x="1394133" y="4352359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FA4496C-A3AD-A98E-56F9-C883C36ADCDB}"/>
              </a:ext>
            </a:extLst>
          </p:cNvPr>
          <p:cNvSpPr/>
          <p:nvPr/>
        </p:nvSpPr>
        <p:spPr>
          <a:xfrm>
            <a:off x="2429420" y="3378467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E98E2C8-E975-DD63-0381-FA44F1E566A9}"/>
              </a:ext>
            </a:extLst>
          </p:cNvPr>
          <p:cNvSpPr/>
          <p:nvPr/>
        </p:nvSpPr>
        <p:spPr>
          <a:xfrm>
            <a:off x="4098963" y="2357359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FFF43E2-ABA7-676C-7E62-975A74C89FF8}"/>
              </a:ext>
            </a:extLst>
          </p:cNvPr>
          <p:cNvSpPr/>
          <p:nvPr/>
        </p:nvSpPr>
        <p:spPr>
          <a:xfrm>
            <a:off x="4176211" y="4204405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ABAED4D-6A05-27CE-AD5C-6C2FB16983E0}"/>
              </a:ext>
            </a:extLst>
          </p:cNvPr>
          <p:cNvSpPr/>
          <p:nvPr/>
        </p:nvSpPr>
        <p:spPr>
          <a:xfrm>
            <a:off x="7536291" y="3827369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{5,3}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D9281DAD-7360-9F75-6B64-31727F5A46A0}"/>
              </a:ext>
            </a:extLst>
          </p:cNvPr>
          <p:cNvSpPr/>
          <p:nvPr/>
        </p:nvSpPr>
        <p:spPr>
          <a:xfrm>
            <a:off x="7536291" y="3437483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{3,3}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5" name="橢圓 64">
            <a:extLst>
              <a:ext uri="{FF2B5EF4-FFF2-40B4-BE49-F238E27FC236}">
                <a16:creationId xmlns:a16="http://schemas.microsoft.com/office/drawing/2014/main" id="{99F8B85E-C2C8-1ACB-199F-28A2CB97D9D4}"/>
              </a:ext>
            </a:extLst>
          </p:cNvPr>
          <p:cNvSpPr/>
          <p:nvPr/>
        </p:nvSpPr>
        <p:spPr>
          <a:xfrm>
            <a:off x="2462912" y="2029847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BC8FE42B-898C-A33E-A3DE-3324CDE2646C}"/>
              </a:ext>
            </a:extLst>
          </p:cNvPr>
          <p:cNvSpPr/>
          <p:nvPr/>
        </p:nvSpPr>
        <p:spPr>
          <a:xfrm>
            <a:off x="268911" y="3325247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153A3C24-3CC7-85CA-58A8-AB73F30CB3D6}"/>
              </a:ext>
            </a:extLst>
          </p:cNvPr>
          <p:cNvCxnSpPr/>
          <p:nvPr/>
        </p:nvCxnSpPr>
        <p:spPr>
          <a:xfrm flipV="1">
            <a:off x="766938" y="2321585"/>
            <a:ext cx="1692723" cy="108911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A9ED8CF2-9DD0-944A-E2E8-E4B4FD1AE7DE}"/>
              </a:ext>
            </a:extLst>
          </p:cNvPr>
          <p:cNvCxnSpPr>
            <a:cxnSpLocks/>
          </p:cNvCxnSpPr>
          <p:nvPr/>
        </p:nvCxnSpPr>
        <p:spPr>
          <a:xfrm>
            <a:off x="766938" y="3823276"/>
            <a:ext cx="1692722" cy="100020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>
            <a:extLst>
              <a:ext uri="{FF2B5EF4-FFF2-40B4-BE49-F238E27FC236}">
                <a16:creationId xmlns:a16="http://schemas.microsoft.com/office/drawing/2014/main" id="{6626592F-6D40-6116-0A96-88BA7AEB5FCD}"/>
              </a:ext>
            </a:extLst>
          </p:cNvPr>
          <p:cNvCxnSpPr>
            <a:cxnSpLocks/>
          </p:cNvCxnSpPr>
          <p:nvPr/>
        </p:nvCxnSpPr>
        <p:spPr>
          <a:xfrm flipH="1" flipV="1">
            <a:off x="3043136" y="2321585"/>
            <a:ext cx="1851482" cy="929722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>
            <a:extLst>
              <a:ext uri="{FF2B5EF4-FFF2-40B4-BE49-F238E27FC236}">
                <a16:creationId xmlns:a16="http://schemas.microsoft.com/office/drawing/2014/main" id="{FFCF36C0-9054-6C3E-1654-2B74D049C545}"/>
              </a:ext>
            </a:extLst>
          </p:cNvPr>
          <p:cNvCxnSpPr>
            <a:cxnSpLocks/>
          </p:cNvCxnSpPr>
          <p:nvPr/>
        </p:nvCxnSpPr>
        <p:spPr>
          <a:xfrm flipH="1">
            <a:off x="3043135" y="3663886"/>
            <a:ext cx="1851483" cy="1159599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9AEBC6D4-3CF0-AB43-71CA-DAD973C5C08A}"/>
              </a:ext>
            </a:extLst>
          </p:cNvPr>
          <p:cNvCxnSpPr>
            <a:cxnSpLocks/>
          </p:cNvCxnSpPr>
          <p:nvPr/>
        </p:nvCxnSpPr>
        <p:spPr>
          <a:xfrm flipV="1">
            <a:off x="2751398" y="2613322"/>
            <a:ext cx="1" cy="1918425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>
            <a:extLst>
              <a:ext uri="{FF2B5EF4-FFF2-40B4-BE49-F238E27FC236}">
                <a16:creationId xmlns:a16="http://schemas.microsoft.com/office/drawing/2014/main" id="{22FB8E21-B0E3-A5AD-D7EF-6F22C1FB4C67}"/>
              </a:ext>
            </a:extLst>
          </p:cNvPr>
          <p:cNvSpPr/>
          <p:nvPr/>
        </p:nvSpPr>
        <p:spPr>
          <a:xfrm>
            <a:off x="2794218" y="1160563"/>
            <a:ext cx="479559" cy="231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958B43C6-2287-3956-2CD3-B9C504D43BA3}"/>
              </a:ext>
            </a:extLst>
          </p:cNvPr>
          <p:cNvSpPr/>
          <p:nvPr/>
        </p:nvSpPr>
        <p:spPr>
          <a:xfrm>
            <a:off x="2803355" y="1160563"/>
            <a:ext cx="479559" cy="231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211F24-C0F3-8E80-D196-BA425E1B5A43}"/>
              </a:ext>
            </a:extLst>
          </p:cNvPr>
          <p:cNvSpPr/>
          <p:nvPr/>
        </p:nvSpPr>
        <p:spPr>
          <a:xfrm>
            <a:off x="2803355" y="1131084"/>
            <a:ext cx="479559" cy="290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10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05503-2DD6-E131-975B-F9C3B805C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流程圖: 人工作業 29">
            <a:extLst>
              <a:ext uri="{FF2B5EF4-FFF2-40B4-BE49-F238E27FC236}">
                <a16:creationId xmlns:a16="http://schemas.microsoft.com/office/drawing/2014/main" id="{883C2E2E-8078-B3F8-45A4-9E37BE658065}"/>
              </a:ext>
            </a:extLst>
          </p:cNvPr>
          <p:cNvSpPr/>
          <p:nvPr/>
        </p:nvSpPr>
        <p:spPr>
          <a:xfrm flipV="1">
            <a:off x="6943508" y="2549220"/>
            <a:ext cx="2419328" cy="2948394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E338B86-43B5-4186-9FC9-04D0E23099F7}"/>
              </a:ext>
            </a:extLst>
          </p:cNvPr>
          <p:cNvSpPr/>
          <p:nvPr/>
        </p:nvSpPr>
        <p:spPr>
          <a:xfrm>
            <a:off x="237067" y="5623650"/>
            <a:ext cx="10340236" cy="573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取出最小的：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{3,3}</a:t>
            </a:r>
          </a:p>
        </p:txBody>
      </p:sp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6A052BFF-45EB-3BBC-048B-74D409410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959192"/>
              </p:ext>
            </p:extLst>
          </p:nvPr>
        </p:nvGraphicFramePr>
        <p:xfrm>
          <a:off x="1162369" y="719666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976633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040504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520339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270940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77210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index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1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2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3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4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280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value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2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3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6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541040"/>
                  </a:ext>
                </a:extLst>
              </a:tr>
            </a:tbl>
          </a:graphicData>
        </a:graphic>
      </p:graphicFrame>
      <p:sp>
        <p:nvSpPr>
          <p:cNvPr id="57" name="矩形 56">
            <a:extLst>
              <a:ext uri="{FF2B5EF4-FFF2-40B4-BE49-F238E27FC236}">
                <a16:creationId xmlns:a16="http://schemas.microsoft.com/office/drawing/2014/main" id="{5CD3BF53-5D6E-ADE5-802E-4A5F25B333BB}"/>
              </a:ext>
            </a:extLst>
          </p:cNvPr>
          <p:cNvSpPr/>
          <p:nvPr/>
        </p:nvSpPr>
        <p:spPr>
          <a:xfrm>
            <a:off x="240318" y="730193"/>
            <a:ext cx="1199774" cy="7206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dis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01D965CA-18C4-3F65-9A34-20ED34FF45D2}"/>
              </a:ext>
            </a:extLst>
          </p:cNvPr>
          <p:cNvSpPr/>
          <p:nvPr/>
        </p:nvSpPr>
        <p:spPr>
          <a:xfrm>
            <a:off x="7015975" y="1903573"/>
            <a:ext cx="2274394" cy="520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priority_queue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與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 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的距離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點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79F8DBE-0C38-FE91-AEDE-E0F03D0B0595}"/>
              </a:ext>
            </a:extLst>
          </p:cNvPr>
          <p:cNvSpPr/>
          <p:nvPr/>
        </p:nvSpPr>
        <p:spPr>
          <a:xfrm>
            <a:off x="9520902" y="808341"/>
            <a:ext cx="2627655" cy="471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push {0,1}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{0,1}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dist[2] = 2  push {2,2}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dist[3] = 5  push {5,3}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{2,2}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dist[3] = 3  push {3,3}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dist[4] = 6  push {6,4}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{3,3}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dist[4] = 5  push {5,4}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{5,3}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continue {5,3}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{5,4}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{6,4}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continue {6,4}</a:t>
            </a:r>
          </a:p>
          <a:p>
            <a:endParaRPr lang="en-US" altLang="zh-TW" sz="14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dis[1] = 0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dis[2] = 2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dis[3] = 3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dis[4] = 5</a:t>
            </a:r>
            <a:endParaRPr lang="zh-TW" altLang="en-US" sz="14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9FE21ED-C215-FACA-AF90-9CE333D96339}"/>
              </a:ext>
            </a:extLst>
          </p:cNvPr>
          <p:cNvSpPr/>
          <p:nvPr/>
        </p:nvSpPr>
        <p:spPr>
          <a:xfrm>
            <a:off x="7536291" y="3075369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{2,2}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FCAEC4D-605E-EEBF-FE98-3DB003778084}"/>
              </a:ext>
            </a:extLst>
          </p:cNvPr>
          <p:cNvSpPr/>
          <p:nvPr/>
        </p:nvSpPr>
        <p:spPr>
          <a:xfrm>
            <a:off x="7533040" y="2691553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{0,1}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C2DBDC-C7E9-E75B-74B7-B99CA3EACEF4}"/>
              </a:ext>
            </a:extLst>
          </p:cNvPr>
          <p:cNvSpPr/>
          <p:nvPr/>
        </p:nvSpPr>
        <p:spPr>
          <a:xfrm>
            <a:off x="7533039" y="4168181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{6,4}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424AA762-A352-EECE-9E81-09045D1FB022}"/>
              </a:ext>
            </a:extLst>
          </p:cNvPr>
          <p:cNvSpPr/>
          <p:nvPr/>
        </p:nvSpPr>
        <p:spPr>
          <a:xfrm>
            <a:off x="272162" y="33252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506424BA-7674-9251-CC2D-C53608C30D2B}"/>
              </a:ext>
            </a:extLst>
          </p:cNvPr>
          <p:cNvSpPr/>
          <p:nvPr/>
        </p:nvSpPr>
        <p:spPr>
          <a:xfrm>
            <a:off x="2462912" y="20298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CC02B0A3-133D-7FD8-ACF4-46D2EB8B799B}"/>
              </a:ext>
            </a:extLst>
          </p:cNvPr>
          <p:cNvCxnSpPr>
            <a:stCxn id="28" idx="7"/>
            <a:endCxn id="29" idx="2"/>
          </p:cNvCxnSpPr>
          <p:nvPr/>
        </p:nvCxnSpPr>
        <p:spPr>
          <a:xfrm flipV="1">
            <a:off x="770189" y="2321585"/>
            <a:ext cx="1692723" cy="108911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橢圓 32">
            <a:extLst>
              <a:ext uri="{FF2B5EF4-FFF2-40B4-BE49-F238E27FC236}">
                <a16:creationId xmlns:a16="http://schemas.microsoft.com/office/drawing/2014/main" id="{2D201FD5-2C2E-6C95-7B88-B8D809ECE604}"/>
              </a:ext>
            </a:extLst>
          </p:cNvPr>
          <p:cNvSpPr/>
          <p:nvPr/>
        </p:nvSpPr>
        <p:spPr>
          <a:xfrm>
            <a:off x="2462911" y="4531747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3E126C1E-1859-7F76-FB1F-EC8F2C64062F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770189" y="3823276"/>
            <a:ext cx="1692722" cy="100020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橢圓 36">
            <a:extLst>
              <a:ext uri="{FF2B5EF4-FFF2-40B4-BE49-F238E27FC236}">
                <a16:creationId xmlns:a16="http://schemas.microsoft.com/office/drawing/2014/main" id="{3F1A4503-02C9-8C7B-1B30-8C5478968446}"/>
              </a:ext>
            </a:extLst>
          </p:cNvPr>
          <p:cNvSpPr/>
          <p:nvPr/>
        </p:nvSpPr>
        <p:spPr>
          <a:xfrm>
            <a:off x="4812421" y="3165859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2D7E47AE-E8A8-A93E-80BC-8B6AED79AA3D}"/>
              </a:ext>
            </a:extLst>
          </p:cNvPr>
          <p:cNvCxnSpPr>
            <a:cxnSpLocks/>
            <a:stCxn id="37" idx="1"/>
            <a:endCxn id="29" idx="6"/>
          </p:cNvCxnSpPr>
          <p:nvPr/>
        </p:nvCxnSpPr>
        <p:spPr>
          <a:xfrm flipH="1" flipV="1">
            <a:off x="3046387" y="2321585"/>
            <a:ext cx="1851482" cy="9297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F81D36B3-6F23-1DF7-7331-7DB5546BF3D0}"/>
              </a:ext>
            </a:extLst>
          </p:cNvPr>
          <p:cNvCxnSpPr>
            <a:cxnSpLocks/>
            <a:stCxn id="37" idx="3"/>
            <a:endCxn id="33" idx="6"/>
          </p:cNvCxnSpPr>
          <p:nvPr/>
        </p:nvCxnSpPr>
        <p:spPr>
          <a:xfrm flipH="1">
            <a:off x="3046386" y="3663886"/>
            <a:ext cx="1851483" cy="11595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325DA62E-024C-8208-A2C6-25E8DD032A7C}"/>
              </a:ext>
            </a:extLst>
          </p:cNvPr>
          <p:cNvSpPr/>
          <p:nvPr/>
        </p:nvSpPr>
        <p:spPr>
          <a:xfrm>
            <a:off x="1337130" y="2424150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5A5B6E7-2DC1-BAD0-FE15-2121C0BD9D40}"/>
              </a:ext>
            </a:extLst>
          </p:cNvPr>
          <p:cNvSpPr/>
          <p:nvPr/>
        </p:nvSpPr>
        <p:spPr>
          <a:xfrm>
            <a:off x="1394133" y="4352359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6600D77-CA06-F8FA-6279-4EF2937B4A19}"/>
              </a:ext>
            </a:extLst>
          </p:cNvPr>
          <p:cNvSpPr/>
          <p:nvPr/>
        </p:nvSpPr>
        <p:spPr>
          <a:xfrm>
            <a:off x="2429420" y="3378467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0833053-C577-D9CC-36D9-E3567EE8392A}"/>
              </a:ext>
            </a:extLst>
          </p:cNvPr>
          <p:cNvSpPr/>
          <p:nvPr/>
        </p:nvSpPr>
        <p:spPr>
          <a:xfrm>
            <a:off x="4098963" y="2357359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5AA939B-6328-4F35-355E-892A79F6D0CA}"/>
              </a:ext>
            </a:extLst>
          </p:cNvPr>
          <p:cNvSpPr/>
          <p:nvPr/>
        </p:nvSpPr>
        <p:spPr>
          <a:xfrm>
            <a:off x="4176211" y="4204405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8B76F0C-C9CB-BD6D-8763-89F4727C5744}"/>
              </a:ext>
            </a:extLst>
          </p:cNvPr>
          <p:cNvSpPr/>
          <p:nvPr/>
        </p:nvSpPr>
        <p:spPr>
          <a:xfrm>
            <a:off x="7536291" y="3827369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{5,3}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EA26DB-BA01-ED12-A275-9002EB605FFF}"/>
              </a:ext>
            </a:extLst>
          </p:cNvPr>
          <p:cNvSpPr/>
          <p:nvPr/>
        </p:nvSpPr>
        <p:spPr>
          <a:xfrm>
            <a:off x="7536291" y="3437483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{3,3}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D20B0205-E594-A971-C28F-2586A25FC856}"/>
              </a:ext>
            </a:extLst>
          </p:cNvPr>
          <p:cNvSpPr/>
          <p:nvPr/>
        </p:nvSpPr>
        <p:spPr>
          <a:xfrm>
            <a:off x="2462912" y="2029847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B92EE5F4-0B8A-AA91-99A3-E9B40109D5BC}"/>
              </a:ext>
            </a:extLst>
          </p:cNvPr>
          <p:cNvSpPr/>
          <p:nvPr/>
        </p:nvSpPr>
        <p:spPr>
          <a:xfrm>
            <a:off x="268911" y="3325247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6DEC623B-7837-B54C-CE65-BB33DE1DB5AF}"/>
              </a:ext>
            </a:extLst>
          </p:cNvPr>
          <p:cNvCxnSpPr/>
          <p:nvPr/>
        </p:nvCxnSpPr>
        <p:spPr>
          <a:xfrm flipV="1">
            <a:off x="766938" y="2321585"/>
            <a:ext cx="1692723" cy="108911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1B155BA4-ED7A-5931-0C8B-04FBB4A97F6A}"/>
              </a:ext>
            </a:extLst>
          </p:cNvPr>
          <p:cNvCxnSpPr>
            <a:cxnSpLocks/>
          </p:cNvCxnSpPr>
          <p:nvPr/>
        </p:nvCxnSpPr>
        <p:spPr>
          <a:xfrm>
            <a:off x="766938" y="3823276"/>
            <a:ext cx="1692722" cy="100020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0A271EB1-2D5B-B6D0-6C72-B7967DC5FD81}"/>
              </a:ext>
            </a:extLst>
          </p:cNvPr>
          <p:cNvCxnSpPr>
            <a:cxnSpLocks/>
          </p:cNvCxnSpPr>
          <p:nvPr/>
        </p:nvCxnSpPr>
        <p:spPr>
          <a:xfrm flipH="1" flipV="1">
            <a:off x="3043136" y="2321585"/>
            <a:ext cx="1851482" cy="929722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ED2B8508-2385-0FC4-4B3E-F791E0814AE8}"/>
              </a:ext>
            </a:extLst>
          </p:cNvPr>
          <p:cNvCxnSpPr>
            <a:cxnSpLocks/>
          </p:cNvCxnSpPr>
          <p:nvPr/>
        </p:nvCxnSpPr>
        <p:spPr>
          <a:xfrm flipH="1">
            <a:off x="3043135" y="3663886"/>
            <a:ext cx="1851483" cy="1159599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795BF380-DC3D-2DFB-7C95-06AFA19AB866}"/>
              </a:ext>
            </a:extLst>
          </p:cNvPr>
          <p:cNvCxnSpPr>
            <a:cxnSpLocks/>
          </p:cNvCxnSpPr>
          <p:nvPr/>
        </p:nvCxnSpPr>
        <p:spPr>
          <a:xfrm flipV="1">
            <a:off x="2751398" y="2613322"/>
            <a:ext cx="1" cy="1918425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5ADAD219-926A-ACBC-E548-DA075B32CF98}"/>
              </a:ext>
            </a:extLst>
          </p:cNvPr>
          <p:cNvSpPr/>
          <p:nvPr/>
        </p:nvSpPr>
        <p:spPr>
          <a:xfrm>
            <a:off x="2794218" y="1160563"/>
            <a:ext cx="479559" cy="231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C3A1751-1C5B-B338-A826-2FFC4541BCF7}"/>
              </a:ext>
            </a:extLst>
          </p:cNvPr>
          <p:cNvSpPr/>
          <p:nvPr/>
        </p:nvSpPr>
        <p:spPr>
          <a:xfrm>
            <a:off x="2803355" y="1160563"/>
            <a:ext cx="479559" cy="231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880CD6-DAA4-7438-DC13-A5BE4022FDC2}"/>
              </a:ext>
            </a:extLst>
          </p:cNvPr>
          <p:cNvSpPr/>
          <p:nvPr/>
        </p:nvSpPr>
        <p:spPr>
          <a:xfrm>
            <a:off x="2803355" y="1131084"/>
            <a:ext cx="479559" cy="290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101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417C6-4DB0-9CE2-51AB-028574946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流程圖: 人工作業 29">
            <a:extLst>
              <a:ext uri="{FF2B5EF4-FFF2-40B4-BE49-F238E27FC236}">
                <a16:creationId xmlns:a16="http://schemas.microsoft.com/office/drawing/2014/main" id="{6AC70274-2F94-5ED7-A30D-555BC6D2A56A}"/>
              </a:ext>
            </a:extLst>
          </p:cNvPr>
          <p:cNvSpPr/>
          <p:nvPr/>
        </p:nvSpPr>
        <p:spPr>
          <a:xfrm flipV="1">
            <a:off x="6943508" y="2549220"/>
            <a:ext cx="2419328" cy="2948394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447EB85-E351-CDDC-1694-4E2E37E05A3B}"/>
              </a:ext>
            </a:extLst>
          </p:cNvPr>
          <p:cNvSpPr/>
          <p:nvPr/>
        </p:nvSpPr>
        <p:spPr>
          <a:xfrm>
            <a:off x="237067" y="5623650"/>
            <a:ext cx="10340236" cy="573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更新路徑：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dist[4] = 5 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，並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push {5,4}</a:t>
            </a:r>
          </a:p>
        </p:txBody>
      </p:sp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81AFD9E7-6814-A84B-58E2-4634E227A0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574160"/>
              </p:ext>
            </p:extLst>
          </p:nvPr>
        </p:nvGraphicFramePr>
        <p:xfrm>
          <a:off x="1162369" y="719666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976633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040504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520339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270940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77210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index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1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2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3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4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280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value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2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3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5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541040"/>
                  </a:ext>
                </a:extLst>
              </a:tr>
            </a:tbl>
          </a:graphicData>
        </a:graphic>
      </p:graphicFrame>
      <p:sp>
        <p:nvSpPr>
          <p:cNvPr id="57" name="矩形 56">
            <a:extLst>
              <a:ext uri="{FF2B5EF4-FFF2-40B4-BE49-F238E27FC236}">
                <a16:creationId xmlns:a16="http://schemas.microsoft.com/office/drawing/2014/main" id="{C9F25C7D-90F3-53AF-DF5E-0CF0E166F61C}"/>
              </a:ext>
            </a:extLst>
          </p:cNvPr>
          <p:cNvSpPr/>
          <p:nvPr/>
        </p:nvSpPr>
        <p:spPr>
          <a:xfrm>
            <a:off x="240318" y="730193"/>
            <a:ext cx="1199774" cy="7206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dis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C5240769-A25E-034A-A4DE-D5763922E0F3}"/>
              </a:ext>
            </a:extLst>
          </p:cNvPr>
          <p:cNvSpPr/>
          <p:nvPr/>
        </p:nvSpPr>
        <p:spPr>
          <a:xfrm>
            <a:off x="7015975" y="1903573"/>
            <a:ext cx="2274394" cy="520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priority_queue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與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 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的距離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點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5950A22-A4BE-412F-A41E-403B9B42AA33}"/>
              </a:ext>
            </a:extLst>
          </p:cNvPr>
          <p:cNvSpPr/>
          <p:nvPr/>
        </p:nvSpPr>
        <p:spPr>
          <a:xfrm>
            <a:off x="9520902" y="808341"/>
            <a:ext cx="2627655" cy="471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push {0,1}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{0,1}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dist[2] = 2  push {2,2}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dist[3] = 5  push {5,3}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{2,2}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dist[3] = 3  push {3,3}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dist[4] = 6  push {6,4}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{3,3}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dist[4] = 5  push {5,4}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{5,3}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continue {5,3}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{5,4}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{6,4}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continue {6,4}</a:t>
            </a:r>
          </a:p>
          <a:p>
            <a:endParaRPr lang="en-US" altLang="zh-TW" sz="14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dis[1] = 0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dis[2] = 2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dis[3] = 3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dis[4] = 5</a:t>
            </a:r>
            <a:endParaRPr lang="zh-TW" altLang="en-US" sz="14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7218469-FD7E-B9DB-837E-5D28954D9882}"/>
              </a:ext>
            </a:extLst>
          </p:cNvPr>
          <p:cNvSpPr/>
          <p:nvPr/>
        </p:nvSpPr>
        <p:spPr>
          <a:xfrm>
            <a:off x="7536291" y="3075369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{2,2}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FA5DE7F-63B4-CB8C-6C16-66BEF54F51EA}"/>
              </a:ext>
            </a:extLst>
          </p:cNvPr>
          <p:cNvSpPr/>
          <p:nvPr/>
        </p:nvSpPr>
        <p:spPr>
          <a:xfrm>
            <a:off x="7533040" y="2691553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{0,1}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BC2ACF-5905-389B-C40D-CFF394E0D6C0}"/>
              </a:ext>
            </a:extLst>
          </p:cNvPr>
          <p:cNvSpPr/>
          <p:nvPr/>
        </p:nvSpPr>
        <p:spPr>
          <a:xfrm>
            <a:off x="7533039" y="4168181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{5,4}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841ECBCF-10CA-7C6F-EA6E-27D6AE71AFD8}"/>
              </a:ext>
            </a:extLst>
          </p:cNvPr>
          <p:cNvSpPr/>
          <p:nvPr/>
        </p:nvSpPr>
        <p:spPr>
          <a:xfrm>
            <a:off x="272162" y="33252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4F59AB4C-2551-CB46-D8BE-57743D5EB501}"/>
              </a:ext>
            </a:extLst>
          </p:cNvPr>
          <p:cNvSpPr/>
          <p:nvPr/>
        </p:nvSpPr>
        <p:spPr>
          <a:xfrm>
            <a:off x="2462912" y="20298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D199F81F-D1C8-6BAE-B7A1-F71E54C575F4}"/>
              </a:ext>
            </a:extLst>
          </p:cNvPr>
          <p:cNvCxnSpPr>
            <a:stCxn id="28" idx="7"/>
            <a:endCxn id="29" idx="2"/>
          </p:cNvCxnSpPr>
          <p:nvPr/>
        </p:nvCxnSpPr>
        <p:spPr>
          <a:xfrm flipV="1">
            <a:off x="770189" y="2321585"/>
            <a:ext cx="1692723" cy="108911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橢圓 32">
            <a:extLst>
              <a:ext uri="{FF2B5EF4-FFF2-40B4-BE49-F238E27FC236}">
                <a16:creationId xmlns:a16="http://schemas.microsoft.com/office/drawing/2014/main" id="{D4B443A5-8CD1-3069-0808-2EC2411D6062}"/>
              </a:ext>
            </a:extLst>
          </p:cNvPr>
          <p:cNvSpPr/>
          <p:nvPr/>
        </p:nvSpPr>
        <p:spPr>
          <a:xfrm>
            <a:off x="2462911" y="45317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539D7D03-8748-4083-4B5B-784C5110F42E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770189" y="3823276"/>
            <a:ext cx="1692722" cy="100020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橢圓 36">
            <a:extLst>
              <a:ext uri="{FF2B5EF4-FFF2-40B4-BE49-F238E27FC236}">
                <a16:creationId xmlns:a16="http://schemas.microsoft.com/office/drawing/2014/main" id="{F8CACDCD-2FC3-56E6-2681-AAE9E1456610}"/>
              </a:ext>
            </a:extLst>
          </p:cNvPr>
          <p:cNvSpPr/>
          <p:nvPr/>
        </p:nvSpPr>
        <p:spPr>
          <a:xfrm>
            <a:off x="4812421" y="3165859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8D977598-F7F0-8FB0-E700-E362BD174C0F}"/>
              </a:ext>
            </a:extLst>
          </p:cNvPr>
          <p:cNvCxnSpPr>
            <a:cxnSpLocks/>
            <a:stCxn id="37" idx="1"/>
            <a:endCxn id="29" idx="6"/>
          </p:cNvCxnSpPr>
          <p:nvPr/>
        </p:nvCxnSpPr>
        <p:spPr>
          <a:xfrm flipH="1" flipV="1">
            <a:off x="3046387" y="2321585"/>
            <a:ext cx="1851482" cy="9297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627EBD03-80BC-EE02-ABC3-D6E3E488837D}"/>
              </a:ext>
            </a:extLst>
          </p:cNvPr>
          <p:cNvCxnSpPr>
            <a:cxnSpLocks/>
            <a:stCxn id="37" idx="3"/>
            <a:endCxn id="33" idx="6"/>
          </p:cNvCxnSpPr>
          <p:nvPr/>
        </p:nvCxnSpPr>
        <p:spPr>
          <a:xfrm flipH="1">
            <a:off x="3046386" y="3663886"/>
            <a:ext cx="1851483" cy="11595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50BE8B1-AFA5-10F6-469C-0A59D1553953}"/>
              </a:ext>
            </a:extLst>
          </p:cNvPr>
          <p:cNvCxnSpPr>
            <a:cxnSpLocks/>
            <a:stCxn id="33" idx="0"/>
            <a:endCxn id="29" idx="4"/>
          </p:cNvCxnSpPr>
          <p:nvPr/>
        </p:nvCxnSpPr>
        <p:spPr>
          <a:xfrm flipV="1">
            <a:off x="2754649" y="2613322"/>
            <a:ext cx="1" cy="19184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FA32A530-78ED-C5FC-41EC-05F7CE7CE748}"/>
              </a:ext>
            </a:extLst>
          </p:cNvPr>
          <p:cNvSpPr/>
          <p:nvPr/>
        </p:nvSpPr>
        <p:spPr>
          <a:xfrm>
            <a:off x="1337130" y="2424150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4EB0260-6C99-E66A-5604-EA14B4C98690}"/>
              </a:ext>
            </a:extLst>
          </p:cNvPr>
          <p:cNvSpPr/>
          <p:nvPr/>
        </p:nvSpPr>
        <p:spPr>
          <a:xfrm>
            <a:off x="1394133" y="4352359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CDF2095-B34E-1134-F133-366E9C3745B0}"/>
              </a:ext>
            </a:extLst>
          </p:cNvPr>
          <p:cNvSpPr/>
          <p:nvPr/>
        </p:nvSpPr>
        <p:spPr>
          <a:xfrm>
            <a:off x="2429420" y="3378467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7DCAF48-D713-E0DA-BC6D-797EB5DC1761}"/>
              </a:ext>
            </a:extLst>
          </p:cNvPr>
          <p:cNvSpPr/>
          <p:nvPr/>
        </p:nvSpPr>
        <p:spPr>
          <a:xfrm>
            <a:off x="4098963" y="2357359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FEE8DDF-FC89-D466-EAF6-3DA0BC059585}"/>
              </a:ext>
            </a:extLst>
          </p:cNvPr>
          <p:cNvSpPr/>
          <p:nvPr/>
        </p:nvSpPr>
        <p:spPr>
          <a:xfrm>
            <a:off x="4176211" y="4204405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9CA2FA-1AA5-E990-4DE3-FF0C7C4FCF67}"/>
              </a:ext>
            </a:extLst>
          </p:cNvPr>
          <p:cNvSpPr/>
          <p:nvPr/>
        </p:nvSpPr>
        <p:spPr>
          <a:xfrm>
            <a:off x="7536291" y="3827369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{5,3}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325D0C-60BD-285F-8D0C-46B2E3EE2532}"/>
              </a:ext>
            </a:extLst>
          </p:cNvPr>
          <p:cNvSpPr/>
          <p:nvPr/>
        </p:nvSpPr>
        <p:spPr>
          <a:xfrm>
            <a:off x="7536291" y="3437483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{3,3}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AA9EC1-1E5D-B455-52A7-A1065B9B23E2}"/>
              </a:ext>
            </a:extLst>
          </p:cNvPr>
          <p:cNvSpPr/>
          <p:nvPr/>
        </p:nvSpPr>
        <p:spPr>
          <a:xfrm>
            <a:off x="7533038" y="4509325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{6,4}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AD76ADC8-1F7A-C01F-AC35-217997169CF3}"/>
              </a:ext>
            </a:extLst>
          </p:cNvPr>
          <p:cNvSpPr/>
          <p:nvPr/>
        </p:nvSpPr>
        <p:spPr>
          <a:xfrm>
            <a:off x="2462911" y="4531747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3A571981-C50A-C77C-793C-4F6F06A4B330}"/>
              </a:ext>
            </a:extLst>
          </p:cNvPr>
          <p:cNvSpPr/>
          <p:nvPr/>
        </p:nvSpPr>
        <p:spPr>
          <a:xfrm>
            <a:off x="2462912" y="2029847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95C56181-6E10-FC74-8082-83708966A3EF}"/>
              </a:ext>
            </a:extLst>
          </p:cNvPr>
          <p:cNvSpPr/>
          <p:nvPr/>
        </p:nvSpPr>
        <p:spPr>
          <a:xfrm>
            <a:off x="268911" y="3325247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AA4F5BAB-0942-4F8E-4CE5-3C7342B93398}"/>
              </a:ext>
            </a:extLst>
          </p:cNvPr>
          <p:cNvCxnSpPr/>
          <p:nvPr/>
        </p:nvCxnSpPr>
        <p:spPr>
          <a:xfrm flipV="1">
            <a:off x="766938" y="2321585"/>
            <a:ext cx="1692723" cy="108911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B93DE69A-C937-03D1-0210-EF42AA2F4C03}"/>
              </a:ext>
            </a:extLst>
          </p:cNvPr>
          <p:cNvCxnSpPr>
            <a:cxnSpLocks/>
          </p:cNvCxnSpPr>
          <p:nvPr/>
        </p:nvCxnSpPr>
        <p:spPr>
          <a:xfrm>
            <a:off x="766938" y="3823276"/>
            <a:ext cx="1692722" cy="100020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F9489292-062C-EB0D-2F98-DDC83D70AAD1}"/>
              </a:ext>
            </a:extLst>
          </p:cNvPr>
          <p:cNvCxnSpPr>
            <a:cxnSpLocks/>
          </p:cNvCxnSpPr>
          <p:nvPr/>
        </p:nvCxnSpPr>
        <p:spPr>
          <a:xfrm flipH="1" flipV="1">
            <a:off x="3043136" y="2321585"/>
            <a:ext cx="1851482" cy="929722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B807F2D8-51F1-DC26-DCA5-3DE0B6C840FB}"/>
              </a:ext>
            </a:extLst>
          </p:cNvPr>
          <p:cNvCxnSpPr>
            <a:cxnSpLocks/>
          </p:cNvCxnSpPr>
          <p:nvPr/>
        </p:nvCxnSpPr>
        <p:spPr>
          <a:xfrm flipH="1">
            <a:off x="3043135" y="3663886"/>
            <a:ext cx="1851483" cy="1159599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BC0926CA-D6D7-346D-9829-A3C7E7CB35BA}"/>
              </a:ext>
            </a:extLst>
          </p:cNvPr>
          <p:cNvCxnSpPr>
            <a:cxnSpLocks/>
          </p:cNvCxnSpPr>
          <p:nvPr/>
        </p:nvCxnSpPr>
        <p:spPr>
          <a:xfrm flipV="1">
            <a:off x="2751398" y="2613322"/>
            <a:ext cx="1" cy="1918425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20D6ABE2-E426-980A-40BC-3798F78F857A}"/>
              </a:ext>
            </a:extLst>
          </p:cNvPr>
          <p:cNvSpPr/>
          <p:nvPr/>
        </p:nvSpPr>
        <p:spPr>
          <a:xfrm>
            <a:off x="2794218" y="1160563"/>
            <a:ext cx="479559" cy="231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B54E288-C29C-4C5E-126C-10325DF61400}"/>
              </a:ext>
            </a:extLst>
          </p:cNvPr>
          <p:cNvSpPr/>
          <p:nvPr/>
        </p:nvSpPr>
        <p:spPr>
          <a:xfrm>
            <a:off x="2803355" y="1160563"/>
            <a:ext cx="479559" cy="231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9BE17F-1454-7677-17B0-6392CB78153C}"/>
              </a:ext>
            </a:extLst>
          </p:cNvPr>
          <p:cNvSpPr/>
          <p:nvPr/>
        </p:nvSpPr>
        <p:spPr>
          <a:xfrm>
            <a:off x="2803355" y="1131084"/>
            <a:ext cx="479559" cy="290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037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E02C5-0C43-04C8-15B7-4037F8B8D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流程圖: 人工作業 29">
            <a:extLst>
              <a:ext uri="{FF2B5EF4-FFF2-40B4-BE49-F238E27FC236}">
                <a16:creationId xmlns:a16="http://schemas.microsoft.com/office/drawing/2014/main" id="{50273F2C-8D50-090D-8B19-BBADAC0BE61D}"/>
              </a:ext>
            </a:extLst>
          </p:cNvPr>
          <p:cNvSpPr/>
          <p:nvPr/>
        </p:nvSpPr>
        <p:spPr>
          <a:xfrm flipV="1">
            <a:off x="6943508" y="2549220"/>
            <a:ext cx="2419328" cy="2948394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1E239CE-65EE-FF62-2428-B4801874B626}"/>
              </a:ext>
            </a:extLst>
          </p:cNvPr>
          <p:cNvSpPr/>
          <p:nvPr/>
        </p:nvSpPr>
        <p:spPr>
          <a:xfrm>
            <a:off x="237067" y="5623650"/>
            <a:ext cx="10340236" cy="573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取出最小的：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{5,3}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，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5 != (dis[3] = 3) -&gt; continue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F2E3AF3F-1063-B903-9176-E7A81402DFDA}"/>
              </a:ext>
            </a:extLst>
          </p:cNvPr>
          <p:cNvGraphicFramePr>
            <a:graphicFrameLocks noGrp="1"/>
          </p:cNvGraphicFramePr>
          <p:nvPr/>
        </p:nvGraphicFramePr>
        <p:xfrm>
          <a:off x="1162369" y="719666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976633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040504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520339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270940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77210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index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1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2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3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4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280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value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2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3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5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541040"/>
                  </a:ext>
                </a:extLst>
              </a:tr>
            </a:tbl>
          </a:graphicData>
        </a:graphic>
      </p:graphicFrame>
      <p:sp>
        <p:nvSpPr>
          <p:cNvPr id="57" name="矩形 56">
            <a:extLst>
              <a:ext uri="{FF2B5EF4-FFF2-40B4-BE49-F238E27FC236}">
                <a16:creationId xmlns:a16="http://schemas.microsoft.com/office/drawing/2014/main" id="{EA526FC0-DB2E-EDBE-61E8-BF800BAD4907}"/>
              </a:ext>
            </a:extLst>
          </p:cNvPr>
          <p:cNvSpPr/>
          <p:nvPr/>
        </p:nvSpPr>
        <p:spPr>
          <a:xfrm>
            <a:off x="240318" y="730193"/>
            <a:ext cx="1199774" cy="7206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dis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A38C8E70-52CF-C111-D473-9F1C4E04F1EB}"/>
              </a:ext>
            </a:extLst>
          </p:cNvPr>
          <p:cNvSpPr/>
          <p:nvPr/>
        </p:nvSpPr>
        <p:spPr>
          <a:xfrm>
            <a:off x="7015975" y="1903573"/>
            <a:ext cx="2274394" cy="520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priority_queue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與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 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的距離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點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496FA68-D08B-3355-A8D9-2EBC8DBEAB2D}"/>
              </a:ext>
            </a:extLst>
          </p:cNvPr>
          <p:cNvSpPr/>
          <p:nvPr/>
        </p:nvSpPr>
        <p:spPr>
          <a:xfrm>
            <a:off x="9520902" y="808341"/>
            <a:ext cx="2627655" cy="471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push {0,1}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{0,1}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dist[2] = 2  push {2,2}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dist[3] = 5  push {5,3}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{2,2}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dist[3] = 3  push {3,3}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dist[4] = 6  push {6,4}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{3,3}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dist[4] = 5  push {5,4}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{5,3}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continue {5,3}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{5,4}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{6,4}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continue {6,4}</a:t>
            </a:r>
          </a:p>
          <a:p>
            <a:endParaRPr lang="en-US" altLang="zh-TW" sz="14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dis[1] = 0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dis[2] = 2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dis[3] = 3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dis[4] = 5</a:t>
            </a:r>
            <a:endParaRPr lang="zh-TW" altLang="en-US" sz="14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B714F72-3025-48D8-FE9C-28DF458E9CBE}"/>
              </a:ext>
            </a:extLst>
          </p:cNvPr>
          <p:cNvSpPr/>
          <p:nvPr/>
        </p:nvSpPr>
        <p:spPr>
          <a:xfrm>
            <a:off x="7536291" y="3075369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{2,2}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C21A692-9B5F-24B4-A3EA-F04C22AD952B}"/>
              </a:ext>
            </a:extLst>
          </p:cNvPr>
          <p:cNvSpPr/>
          <p:nvPr/>
        </p:nvSpPr>
        <p:spPr>
          <a:xfrm>
            <a:off x="7533040" y="2691553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{0,1}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649290-600F-6475-21F4-BB877DAD2C6D}"/>
              </a:ext>
            </a:extLst>
          </p:cNvPr>
          <p:cNvSpPr/>
          <p:nvPr/>
        </p:nvSpPr>
        <p:spPr>
          <a:xfrm>
            <a:off x="7533039" y="4168181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{5,4}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813D6729-1723-14E6-79E4-7CE9CFF0E322}"/>
              </a:ext>
            </a:extLst>
          </p:cNvPr>
          <p:cNvSpPr/>
          <p:nvPr/>
        </p:nvSpPr>
        <p:spPr>
          <a:xfrm>
            <a:off x="272162" y="33252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2FA7A9DE-E311-B147-2D22-C036AF4CEA73}"/>
              </a:ext>
            </a:extLst>
          </p:cNvPr>
          <p:cNvSpPr/>
          <p:nvPr/>
        </p:nvSpPr>
        <p:spPr>
          <a:xfrm>
            <a:off x="2462912" y="20298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DE908671-C01D-4D4E-473A-D5FB9EAF3785}"/>
              </a:ext>
            </a:extLst>
          </p:cNvPr>
          <p:cNvCxnSpPr>
            <a:stCxn id="28" idx="7"/>
            <a:endCxn id="29" idx="2"/>
          </p:cNvCxnSpPr>
          <p:nvPr/>
        </p:nvCxnSpPr>
        <p:spPr>
          <a:xfrm flipV="1">
            <a:off x="770189" y="2321585"/>
            <a:ext cx="1692723" cy="108911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橢圓 32">
            <a:extLst>
              <a:ext uri="{FF2B5EF4-FFF2-40B4-BE49-F238E27FC236}">
                <a16:creationId xmlns:a16="http://schemas.microsoft.com/office/drawing/2014/main" id="{120FF80F-8F65-BA23-ECC2-660ACF6FF470}"/>
              </a:ext>
            </a:extLst>
          </p:cNvPr>
          <p:cNvSpPr/>
          <p:nvPr/>
        </p:nvSpPr>
        <p:spPr>
          <a:xfrm>
            <a:off x="2462911" y="45317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9B682082-5022-0153-2480-721C352DFA42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770189" y="3823276"/>
            <a:ext cx="1692722" cy="100020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橢圓 36">
            <a:extLst>
              <a:ext uri="{FF2B5EF4-FFF2-40B4-BE49-F238E27FC236}">
                <a16:creationId xmlns:a16="http://schemas.microsoft.com/office/drawing/2014/main" id="{6BAA8EAC-9A81-7B74-B53D-56D62D653FB1}"/>
              </a:ext>
            </a:extLst>
          </p:cNvPr>
          <p:cNvSpPr/>
          <p:nvPr/>
        </p:nvSpPr>
        <p:spPr>
          <a:xfrm>
            <a:off x="4812421" y="3165859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149A3CFC-ACE2-D614-200A-B50A73B15817}"/>
              </a:ext>
            </a:extLst>
          </p:cNvPr>
          <p:cNvCxnSpPr>
            <a:cxnSpLocks/>
            <a:stCxn id="37" idx="1"/>
            <a:endCxn id="29" idx="6"/>
          </p:cNvCxnSpPr>
          <p:nvPr/>
        </p:nvCxnSpPr>
        <p:spPr>
          <a:xfrm flipH="1" flipV="1">
            <a:off x="3046387" y="2321585"/>
            <a:ext cx="1851482" cy="9297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103D7F28-5C28-CCCF-8268-6006EA47EFFA}"/>
              </a:ext>
            </a:extLst>
          </p:cNvPr>
          <p:cNvCxnSpPr>
            <a:cxnSpLocks/>
            <a:stCxn id="37" idx="3"/>
            <a:endCxn id="33" idx="6"/>
          </p:cNvCxnSpPr>
          <p:nvPr/>
        </p:nvCxnSpPr>
        <p:spPr>
          <a:xfrm flipH="1">
            <a:off x="3046386" y="3663886"/>
            <a:ext cx="1851483" cy="11595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F4DDEDF5-54D4-A22B-AC90-2A43C60A25C1}"/>
              </a:ext>
            </a:extLst>
          </p:cNvPr>
          <p:cNvCxnSpPr>
            <a:cxnSpLocks/>
            <a:stCxn id="33" idx="0"/>
            <a:endCxn id="29" idx="4"/>
          </p:cNvCxnSpPr>
          <p:nvPr/>
        </p:nvCxnSpPr>
        <p:spPr>
          <a:xfrm flipV="1">
            <a:off x="2754649" y="2613322"/>
            <a:ext cx="1" cy="19184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70C4D7C1-CEFC-EA54-B8E3-06DA641B4823}"/>
              </a:ext>
            </a:extLst>
          </p:cNvPr>
          <p:cNvSpPr/>
          <p:nvPr/>
        </p:nvSpPr>
        <p:spPr>
          <a:xfrm>
            <a:off x="1337130" y="2424150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6F58BCD-0EB9-BFBA-7838-590074BED6B3}"/>
              </a:ext>
            </a:extLst>
          </p:cNvPr>
          <p:cNvSpPr/>
          <p:nvPr/>
        </p:nvSpPr>
        <p:spPr>
          <a:xfrm>
            <a:off x="1394133" y="4352359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72BBDC8-BCA9-3E59-88CD-D829B888A2B8}"/>
              </a:ext>
            </a:extLst>
          </p:cNvPr>
          <p:cNvSpPr/>
          <p:nvPr/>
        </p:nvSpPr>
        <p:spPr>
          <a:xfrm>
            <a:off x="2429420" y="3378467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DDE46A7-539E-4AE1-C570-56F65A482922}"/>
              </a:ext>
            </a:extLst>
          </p:cNvPr>
          <p:cNvSpPr/>
          <p:nvPr/>
        </p:nvSpPr>
        <p:spPr>
          <a:xfrm>
            <a:off x="4098963" y="2357359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317443C-756D-B130-8E65-A9208AFC5DC4}"/>
              </a:ext>
            </a:extLst>
          </p:cNvPr>
          <p:cNvSpPr/>
          <p:nvPr/>
        </p:nvSpPr>
        <p:spPr>
          <a:xfrm>
            <a:off x="4176211" y="4204405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013AD0-11F1-B462-4675-0245DC4C2068}"/>
              </a:ext>
            </a:extLst>
          </p:cNvPr>
          <p:cNvSpPr/>
          <p:nvPr/>
        </p:nvSpPr>
        <p:spPr>
          <a:xfrm>
            <a:off x="7536291" y="3827369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{5,3}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09B8965-7C97-A05D-5601-C5DEA2BB20D5}"/>
              </a:ext>
            </a:extLst>
          </p:cNvPr>
          <p:cNvSpPr/>
          <p:nvPr/>
        </p:nvSpPr>
        <p:spPr>
          <a:xfrm>
            <a:off x="7536291" y="3437483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{3,3}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1624D4F-9342-41DA-3958-33A0FDFA3441}"/>
              </a:ext>
            </a:extLst>
          </p:cNvPr>
          <p:cNvSpPr/>
          <p:nvPr/>
        </p:nvSpPr>
        <p:spPr>
          <a:xfrm>
            <a:off x="7533038" y="4509325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{6,4}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AB2CACCE-F191-8E97-0124-728143DBAD38}"/>
              </a:ext>
            </a:extLst>
          </p:cNvPr>
          <p:cNvSpPr/>
          <p:nvPr/>
        </p:nvSpPr>
        <p:spPr>
          <a:xfrm>
            <a:off x="2462911" y="4531747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38CC92DC-83DC-6E81-A0AD-A29DBE37CC4F}"/>
              </a:ext>
            </a:extLst>
          </p:cNvPr>
          <p:cNvSpPr/>
          <p:nvPr/>
        </p:nvSpPr>
        <p:spPr>
          <a:xfrm>
            <a:off x="2462912" y="2029847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489D33C-29F2-B574-2D15-100D6691315B}"/>
              </a:ext>
            </a:extLst>
          </p:cNvPr>
          <p:cNvSpPr/>
          <p:nvPr/>
        </p:nvSpPr>
        <p:spPr>
          <a:xfrm>
            <a:off x="268911" y="3325247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8617E36B-F60E-6889-A782-4662F6B91DF4}"/>
              </a:ext>
            </a:extLst>
          </p:cNvPr>
          <p:cNvCxnSpPr/>
          <p:nvPr/>
        </p:nvCxnSpPr>
        <p:spPr>
          <a:xfrm flipV="1">
            <a:off x="766938" y="2321585"/>
            <a:ext cx="1692723" cy="108911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7BA8AB34-3ABE-0383-3BE8-68C241F947B4}"/>
              </a:ext>
            </a:extLst>
          </p:cNvPr>
          <p:cNvCxnSpPr>
            <a:cxnSpLocks/>
          </p:cNvCxnSpPr>
          <p:nvPr/>
        </p:nvCxnSpPr>
        <p:spPr>
          <a:xfrm>
            <a:off x="766938" y="3823276"/>
            <a:ext cx="1692722" cy="100020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3DD3223C-7663-B8F5-961C-D2D6598CCE26}"/>
              </a:ext>
            </a:extLst>
          </p:cNvPr>
          <p:cNvCxnSpPr>
            <a:cxnSpLocks/>
          </p:cNvCxnSpPr>
          <p:nvPr/>
        </p:nvCxnSpPr>
        <p:spPr>
          <a:xfrm flipH="1" flipV="1">
            <a:off x="3043136" y="2321585"/>
            <a:ext cx="1851482" cy="929722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348D3D34-76DE-FCB2-D705-CB925194C4DE}"/>
              </a:ext>
            </a:extLst>
          </p:cNvPr>
          <p:cNvCxnSpPr>
            <a:cxnSpLocks/>
          </p:cNvCxnSpPr>
          <p:nvPr/>
        </p:nvCxnSpPr>
        <p:spPr>
          <a:xfrm flipH="1">
            <a:off x="3043135" y="3663886"/>
            <a:ext cx="1851483" cy="1159599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0014D3B2-3D3C-0EB3-9A2E-95B76A8B0B56}"/>
              </a:ext>
            </a:extLst>
          </p:cNvPr>
          <p:cNvCxnSpPr>
            <a:cxnSpLocks/>
          </p:cNvCxnSpPr>
          <p:nvPr/>
        </p:nvCxnSpPr>
        <p:spPr>
          <a:xfrm flipV="1">
            <a:off x="2751398" y="2613322"/>
            <a:ext cx="1" cy="1918425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7E7212C8-C684-2A0F-3340-553AD26B18E0}"/>
              </a:ext>
            </a:extLst>
          </p:cNvPr>
          <p:cNvSpPr/>
          <p:nvPr/>
        </p:nvSpPr>
        <p:spPr>
          <a:xfrm>
            <a:off x="2794218" y="1160563"/>
            <a:ext cx="479559" cy="231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94A9F40-08DA-A8CC-CDD9-3B7B077F5ED9}"/>
              </a:ext>
            </a:extLst>
          </p:cNvPr>
          <p:cNvSpPr/>
          <p:nvPr/>
        </p:nvSpPr>
        <p:spPr>
          <a:xfrm>
            <a:off x="2803355" y="1160563"/>
            <a:ext cx="479559" cy="231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EF15EEF-42E4-66D2-8EDD-97412678FFCD}"/>
              </a:ext>
            </a:extLst>
          </p:cNvPr>
          <p:cNvSpPr/>
          <p:nvPr/>
        </p:nvSpPr>
        <p:spPr>
          <a:xfrm>
            <a:off x="2803355" y="1131084"/>
            <a:ext cx="479559" cy="290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505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1ACA9-7FA5-FB13-5238-02021563C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流程圖: 人工作業 29">
            <a:extLst>
              <a:ext uri="{FF2B5EF4-FFF2-40B4-BE49-F238E27FC236}">
                <a16:creationId xmlns:a16="http://schemas.microsoft.com/office/drawing/2014/main" id="{B0F90E0C-314E-A703-83FC-C70A6453F48F}"/>
              </a:ext>
            </a:extLst>
          </p:cNvPr>
          <p:cNvSpPr/>
          <p:nvPr/>
        </p:nvSpPr>
        <p:spPr>
          <a:xfrm flipV="1">
            <a:off x="6943508" y="2549220"/>
            <a:ext cx="2419328" cy="2948394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0FB5084-F411-FAD7-3EEA-950EA2CC01F0}"/>
              </a:ext>
            </a:extLst>
          </p:cNvPr>
          <p:cNvSpPr/>
          <p:nvPr/>
        </p:nvSpPr>
        <p:spPr>
          <a:xfrm>
            <a:off x="237067" y="5623650"/>
            <a:ext cx="10340236" cy="573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取出最小的：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{5,4}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，但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沒有連接到節點，所以沒做事</a:t>
            </a:r>
            <a:endParaRPr lang="en-US" altLang="zh-TW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14041071-CD6C-1184-0C9E-C10FD4C55806}"/>
              </a:ext>
            </a:extLst>
          </p:cNvPr>
          <p:cNvGraphicFramePr>
            <a:graphicFrameLocks noGrp="1"/>
          </p:cNvGraphicFramePr>
          <p:nvPr/>
        </p:nvGraphicFramePr>
        <p:xfrm>
          <a:off x="1162369" y="719666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976633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040504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520339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270940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77210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index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1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2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3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4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280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value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2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3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5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541040"/>
                  </a:ext>
                </a:extLst>
              </a:tr>
            </a:tbl>
          </a:graphicData>
        </a:graphic>
      </p:graphicFrame>
      <p:sp>
        <p:nvSpPr>
          <p:cNvPr id="57" name="矩形 56">
            <a:extLst>
              <a:ext uri="{FF2B5EF4-FFF2-40B4-BE49-F238E27FC236}">
                <a16:creationId xmlns:a16="http://schemas.microsoft.com/office/drawing/2014/main" id="{2C1847E5-A704-A1CC-0029-88526911AA22}"/>
              </a:ext>
            </a:extLst>
          </p:cNvPr>
          <p:cNvSpPr/>
          <p:nvPr/>
        </p:nvSpPr>
        <p:spPr>
          <a:xfrm>
            <a:off x="240318" y="730193"/>
            <a:ext cx="1199774" cy="7206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dis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5DC125F-CE1D-88DD-7FB3-C9F1C53F4348}"/>
              </a:ext>
            </a:extLst>
          </p:cNvPr>
          <p:cNvSpPr/>
          <p:nvPr/>
        </p:nvSpPr>
        <p:spPr>
          <a:xfrm>
            <a:off x="7015975" y="1903573"/>
            <a:ext cx="2274394" cy="520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priority_queue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與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 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的距離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點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3F3D85B-1E68-5661-DECF-5728F0E6B8CF}"/>
              </a:ext>
            </a:extLst>
          </p:cNvPr>
          <p:cNvSpPr/>
          <p:nvPr/>
        </p:nvSpPr>
        <p:spPr>
          <a:xfrm>
            <a:off x="9520902" y="808341"/>
            <a:ext cx="2627655" cy="471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push {0,1}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{0,1}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dist[2] = 2  push {2,2}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dist[3] = 5  push {5,3}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{2,2}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dist[3] = 3  push {3,3}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dist[4] = 6  push {6,4}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{3,3}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dist[4] = 5  push {5,4}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{5,3}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continue {5,3}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{5,4}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{6,4}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continue {6,4}</a:t>
            </a:r>
          </a:p>
          <a:p>
            <a:endParaRPr lang="en-US" altLang="zh-TW" sz="14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dis[1] = 0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dis[2] = 2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dis[3] = 3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dis[4] = 5</a:t>
            </a:r>
            <a:endParaRPr lang="zh-TW" altLang="en-US" sz="14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325B30A-4C59-17AF-DBA1-851C4F25AE7B}"/>
              </a:ext>
            </a:extLst>
          </p:cNvPr>
          <p:cNvSpPr/>
          <p:nvPr/>
        </p:nvSpPr>
        <p:spPr>
          <a:xfrm>
            <a:off x="7536291" y="3075369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{2,2}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87E8A27-297D-5CDC-2B80-0431B9CE031F}"/>
              </a:ext>
            </a:extLst>
          </p:cNvPr>
          <p:cNvSpPr/>
          <p:nvPr/>
        </p:nvSpPr>
        <p:spPr>
          <a:xfrm>
            <a:off x="7533040" y="2691553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{0,1}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616E05-3BEF-31FC-CDDB-521B7D16A259}"/>
              </a:ext>
            </a:extLst>
          </p:cNvPr>
          <p:cNvSpPr/>
          <p:nvPr/>
        </p:nvSpPr>
        <p:spPr>
          <a:xfrm>
            <a:off x="7533039" y="4168181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{5,4}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01163907-6FF0-6CCD-68B2-5D15C0E73722}"/>
              </a:ext>
            </a:extLst>
          </p:cNvPr>
          <p:cNvSpPr/>
          <p:nvPr/>
        </p:nvSpPr>
        <p:spPr>
          <a:xfrm>
            <a:off x="272162" y="33252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49A9A1BF-E17D-7690-C5F1-8EFCDF18BAAA}"/>
              </a:ext>
            </a:extLst>
          </p:cNvPr>
          <p:cNvSpPr/>
          <p:nvPr/>
        </p:nvSpPr>
        <p:spPr>
          <a:xfrm>
            <a:off x="2462912" y="20298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EEF8C797-F796-7914-AA56-CB422D052DCE}"/>
              </a:ext>
            </a:extLst>
          </p:cNvPr>
          <p:cNvCxnSpPr>
            <a:stCxn id="28" idx="7"/>
            <a:endCxn id="29" idx="2"/>
          </p:cNvCxnSpPr>
          <p:nvPr/>
        </p:nvCxnSpPr>
        <p:spPr>
          <a:xfrm flipV="1">
            <a:off x="770189" y="2321585"/>
            <a:ext cx="1692723" cy="108911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橢圓 32">
            <a:extLst>
              <a:ext uri="{FF2B5EF4-FFF2-40B4-BE49-F238E27FC236}">
                <a16:creationId xmlns:a16="http://schemas.microsoft.com/office/drawing/2014/main" id="{874E9AEA-7C55-FFD1-BD64-A77EA3326B1F}"/>
              </a:ext>
            </a:extLst>
          </p:cNvPr>
          <p:cNvSpPr/>
          <p:nvPr/>
        </p:nvSpPr>
        <p:spPr>
          <a:xfrm>
            <a:off x="2462911" y="45317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BED30003-484D-498E-3DB4-FC2F3BE42D90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770189" y="3823276"/>
            <a:ext cx="1692722" cy="100020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橢圓 36">
            <a:extLst>
              <a:ext uri="{FF2B5EF4-FFF2-40B4-BE49-F238E27FC236}">
                <a16:creationId xmlns:a16="http://schemas.microsoft.com/office/drawing/2014/main" id="{E091249D-3C18-B0F6-825D-6023E97CE97E}"/>
              </a:ext>
            </a:extLst>
          </p:cNvPr>
          <p:cNvSpPr/>
          <p:nvPr/>
        </p:nvSpPr>
        <p:spPr>
          <a:xfrm>
            <a:off x="4812421" y="3165859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AC20434D-8BF1-5D8E-59B8-EA098FA87153}"/>
              </a:ext>
            </a:extLst>
          </p:cNvPr>
          <p:cNvCxnSpPr>
            <a:cxnSpLocks/>
            <a:stCxn id="37" idx="1"/>
            <a:endCxn id="29" idx="6"/>
          </p:cNvCxnSpPr>
          <p:nvPr/>
        </p:nvCxnSpPr>
        <p:spPr>
          <a:xfrm flipH="1" flipV="1">
            <a:off x="3046387" y="2321585"/>
            <a:ext cx="1851482" cy="9297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024E5366-F852-133B-C3FF-7E95BF060E95}"/>
              </a:ext>
            </a:extLst>
          </p:cNvPr>
          <p:cNvCxnSpPr>
            <a:cxnSpLocks/>
            <a:stCxn id="37" idx="3"/>
            <a:endCxn id="33" idx="6"/>
          </p:cNvCxnSpPr>
          <p:nvPr/>
        </p:nvCxnSpPr>
        <p:spPr>
          <a:xfrm flipH="1">
            <a:off x="3046386" y="3663886"/>
            <a:ext cx="1851483" cy="115959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F9CDEFAC-D757-0A7B-6C3D-1D27748FA361}"/>
              </a:ext>
            </a:extLst>
          </p:cNvPr>
          <p:cNvCxnSpPr>
            <a:cxnSpLocks/>
            <a:stCxn id="33" idx="0"/>
            <a:endCxn id="29" idx="4"/>
          </p:cNvCxnSpPr>
          <p:nvPr/>
        </p:nvCxnSpPr>
        <p:spPr>
          <a:xfrm flipV="1">
            <a:off x="2754649" y="2613322"/>
            <a:ext cx="1" cy="19184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BA3100FF-CC4F-75E6-F217-641D29EA3C32}"/>
              </a:ext>
            </a:extLst>
          </p:cNvPr>
          <p:cNvSpPr/>
          <p:nvPr/>
        </p:nvSpPr>
        <p:spPr>
          <a:xfrm>
            <a:off x="1337130" y="2424150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3B41380-F99F-6A02-E76B-BF454E193208}"/>
              </a:ext>
            </a:extLst>
          </p:cNvPr>
          <p:cNvSpPr/>
          <p:nvPr/>
        </p:nvSpPr>
        <p:spPr>
          <a:xfrm>
            <a:off x="1394133" y="4352359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2822A71-6425-52C0-F6FD-96339C2BC914}"/>
              </a:ext>
            </a:extLst>
          </p:cNvPr>
          <p:cNvSpPr/>
          <p:nvPr/>
        </p:nvSpPr>
        <p:spPr>
          <a:xfrm>
            <a:off x="2429420" y="3378467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8ED1E66-8890-4F07-75EC-277AA471A34F}"/>
              </a:ext>
            </a:extLst>
          </p:cNvPr>
          <p:cNvSpPr/>
          <p:nvPr/>
        </p:nvSpPr>
        <p:spPr>
          <a:xfrm>
            <a:off x="4098963" y="2357359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AD6B361-5062-7CA0-6162-3FE440FC1C58}"/>
              </a:ext>
            </a:extLst>
          </p:cNvPr>
          <p:cNvSpPr/>
          <p:nvPr/>
        </p:nvSpPr>
        <p:spPr>
          <a:xfrm>
            <a:off x="4176211" y="4204405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C638F2-BF1C-2927-37F8-0A62C79F7AFD}"/>
              </a:ext>
            </a:extLst>
          </p:cNvPr>
          <p:cNvSpPr/>
          <p:nvPr/>
        </p:nvSpPr>
        <p:spPr>
          <a:xfrm>
            <a:off x="7536291" y="3437483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{3,3}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FA3A18-3637-B42D-4B96-A35C2FB1358F}"/>
              </a:ext>
            </a:extLst>
          </p:cNvPr>
          <p:cNvSpPr/>
          <p:nvPr/>
        </p:nvSpPr>
        <p:spPr>
          <a:xfrm>
            <a:off x="7533038" y="4509325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{6,4}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39E30948-5BDE-C859-604E-C74E581ED55F}"/>
              </a:ext>
            </a:extLst>
          </p:cNvPr>
          <p:cNvSpPr/>
          <p:nvPr/>
        </p:nvSpPr>
        <p:spPr>
          <a:xfrm>
            <a:off x="2462911" y="4531747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03B50EB5-B412-A2EC-0A2D-3E20F9A0B3AC}"/>
              </a:ext>
            </a:extLst>
          </p:cNvPr>
          <p:cNvSpPr/>
          <p:nvPr/>
        </p:nvSpPr>
        <p:spPr>
          <a:xfrm>
            <a:off x="2462912" y="2029847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D3540DF8-2377-3127-2170-4011BBD9CD11}"/>
              </a:ext>
            </a:extLst>
          </p:cNvPr>
          <p:cNvSpPr/>
          <p:nvPr/>
        </p:nvSpPr>
        <p:spPr>
          <a:xfrm>
            <a:off x="268911" y="3325247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A702AC7-ACAE-49AD-E43F-C1328B9727CA}"/>
              </a:ext>
            </a:extLst>
          </p:cNvPr>
          <p:cNvSpPr/>
          <p:nvPr/>
        </p:nvSpPr>
        <p:spPr>
          <a:xfrm>
            <a:off x="7536291" y="3827369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{5,3}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0E5DF71D-E5B6-3E23-42CE-7B120826F34B}"/>
              </a:ext>
            </a:extLst>
          </p:cNvPr>
          <p:cNvCxnSpPr/>
          <p:nvPr/>
        </p:nvCxnSpPr>
        <p:spPr>
          <a:xfrm flipV="1">
            <a:off x="766938" y="2321585"/>
            <a:ext cx="1692723" cy="108911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D4A319EA-B365-0D39-DA84-97953F4DD717}"/>
              </a:ext>
            </a:extLst>
          </p:cNvPr>
          <p:cNvCxnSpPr>
            <a:cxnSpLocks/>
          </p:cNvCxnSpPr>
          <p:nvPr/>
        </p:nvCxnSpPr>
        <p:spPr>
          <a:xfrm>
            <a:off x="766938" y="3823276"/>
            <a:ext cx="1692722" cy="100020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84578945-AC00-B76E-54E8-23301E52FF49}"/>
              </a:ext>
            </a:extLst>
          </p:cNvPr>
          <p:cNvCxnSpPr>
            <a:cxnSpLocks/>
          </p:cNvCxnSpPr>
          <p:nvPr/>
        </p:nvCxnSpPr>
        <p:spPr>
          <a:xfrm flipH="1" flipV="1">
            <a:off x="3043136" y="2321585"/>
            <a:ext cx="1851482" cy="929722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C4DF32DD-CA7B-684E-FC2E-85E848325D31}"/>
              </a:ext>
            </a:extLst>
          </p:cNvPr>
          <p:cNvCxnSpPr>
            <a:cxnSpLocks/>
          </p:cNvCxnSpPr>
          <p:nvPr/>
        </p:nvCxnSpPr>
        <p:spPr>
          <a:xfrm flipH="1">
            <a:off x="3043135" y="3663886"/>
            <a:ext cx="1851483" cy="1159599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90D93589-C9C5-956B-9969-EF54CA0EBEA2}"/>
              </a:ext>
            </a:extLst>
          </p:cNvPr>
          <p:cNvCxnSpPr>
            <a:cxnSpLocks/>
          </p:cNvCxnSpPr>
          <p:nvPr/>
        </p:nvCxnSpPr>
        <p:spPr>
          <a:xfrm flipV="1">
            <a:off x="2751398" y="2613322"/>
            <a:ext cx="1" cy="1918425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CE65A5F5-23FC-A361-CA23-E4635915B3A2}"/>
              </a:ext>
            </a:extLst>
          </p:cNvPr>
          <p:cNvSpPr/>
          <p:nvPr/>
        </p:nvSpPr>
        <p:spPr>
          <a:xfrm>
            <a:off x="2794218" y="1160563"/>
            <a:ext cx="479559" cy="231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06D9E49-2278-0151-0846-0983D7FFC0D3}"/>
              </a:ext>
            </a:extLst>
          </p:cNvPr>
          <p:cNvSpPr/>
          <p:nvPr/>
        </p:nvSpPr>
        <p:spPr>
          <a:xfrm>
            <a:off x="2803355" y="1160563"/>
            <a:ext cx="479559" cy="231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B4EBFCC-EBA0-B1E5-AE6B-2978331BFD32}"/>
              </a:ext>
            </a:extLst>
          </p:cNvPr>
          <p:cNvSpPr/>
          <p:nvPr/>
        </p:nvSpPr>
        <p:spPr>
          <a:xfrm>
            <a:off x="2803355" y="1131084"/>
            <a:ext cx="479559" cy="290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833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CDA3A-A3DD-92AF-02E3-7954B781D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流程圖: 人工作業 29">
            <a:extLst>
              <a:ext uri="{FF2B5EF4-FFF2-40B4-BE49-F238E27FC236}">
                <a16:creationId xmlns:a16="http://schemas.microsoft.com/office/drawing/2014/main" id="{7432EC23-DF5C-63AC-4183-73D00836AC1B}"/>
              </a:ext>
            </a:extLst>
          </p:cNvPr>
          <p:cNvSpPr/>
          <p:nvPr/>
        </p:nvSpPr>
        <p:spPr>
          <a:xfrm flipV="1">
            <a:off x="6943508" y="2549220"/>
            <a:ext cx="2419328" cy="2948394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21B22EB-44A7-FF3D-ADA1-29FE9E20E896}"/>
              </a:ext>
            </a:extLst>
          </p:cNvPr>
          <p:cNvSpPr/>
          <p:nvPr/>
        </p:nvSpPr>
        <p:spPr>
          <a:xfrm>
            <a:off x="237067" y="5623650"/>
            <a:ext cx="10340236" cy="573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取出最小的：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{6,4}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，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6 != (dis[4] = 5) -&gt; continue</a:t>
            </a:r>
          </a:p>
        </p:txBody>
      </p:sp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482FF3DA-8953-9029-747A-01A048F17326}"/>
              </a:ext>
            </a:extLst>
          </p:cNvPr>
          <p:cNvGraphicFramePr>
            <a:graphicFrameLocks noGrp="1"/>
          </p:cNvGraphicFramePr>
          <p:nvPr/>
        </p:nvGraphicFramePr>
        <p:xfrm>
          <a:off x="1162369" y="719666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976633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040504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520339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270940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77210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index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1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2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3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4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280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value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2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3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5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541040"/>
                  </a:ext>
                </a:extLst>
              </a:tr>
            </a:tbl>
          </a:graphicData>
        </a:graphic>
      </p:graphicFrame>
      <p:sp>
        <p:nvSpPr>
          <p:cNvPr id="57" name="矩形 56">
            <a:extLst>
              <a:ext uri="{FF2B5EF4-FFF2-40B4-BE49-F238E27FC236}">
                <a16:creationId xmlns:a16="http://schemas.microsoft.com/office/drawing/2014/main" id="{A3874FE8-AF93-CFDE-2090-F9534D8B1879}"/>
              </a:ext>
            </a:extLst>
          </p:cNvPr>
          <p:cNvSpPr/>
          <p:nvPr/>
        </p:nvSpPr>
        <p:spPr>
          <a:xfrm>
            <a:off x="240318" y="730193"/>
            <a:ext cx="1199774" cy="7206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dis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4EDC912D-2F90-5900-5BE9-13E27AAC83CF}"/>
              </a:ext>
            </a:extLst>
          </p:cNvPr>
          <p:cNvSpPr/>
          <p:nvPr/>
        </p:nvSpPr>
        <p:spPr>
          <a:xfrm>
            <a:off x="7015975" y="1903573"/>
            <a:ext cx="2274394" cy="520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priority_queue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與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 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的距離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點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9E36269-AF83-404A-B4E6-BE4CF631FEA2}"/>
              </a:ext>
            </a:extLst>
          </p:cNvPr>
          <p:cNvSpPr/>
          <p:nvPr/>
        </p:nvSpPr>
        <p:spPr>
          <a:xfrm>
            <a:off x="9520902" y="808341"/>
            <a:ext cx="2627655" cy="471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push {0,1}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{0,1}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dist[2] = 2  push {2,2}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dist[3] = 5  push {5,3}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{2,2}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dist[3] = 3  push {3,3}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dist[4] = 6  push {6,4}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{3,3}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dist[4] = 5  push {5,4}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{5,3}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continue {5,3}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{5,4}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{6,4}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continue {6,4}</a:t>
            </a:r>
          </a:p>
          <a:p>
            <a:endParaRPr lang="en-US" altLang="zh-TW" sz="14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dis[1] = 0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dis[2] = 2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dis[3] = 3</a:t>
            </a:r>
          </a:p>
          <a:p>
            <a:r>
              <a:rPr lang="en-US" altLang="zh-TW" sz="1400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dis[4] = 5</a:t>
            </a:r>
            <a:endParaRPr lang="zh-TW" altLang="en-US" sz="14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208F9C0-A944-6643-BBBB-616ACB8C6916}"/>
              </a:ext>
            </a:extLst>
          </p:cNvPr>
          <p:cNvSpPr/>
          <p:nvPr/>
        </p:nvSpPr>
        <p:spPr>
          <a:xfrm>
            <a:off x="7536291" y="3075369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{2,2}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492A29F-4ABD-2C4C-DB39-1095CFF4FA33}"/>
              </a:ext>
            </a:extLst>
          </p:cNvPr>
          <p:cNvSpPr/>
          <p:nvPr/>
        </p:nvSpPr>
        <p:spPr>
          <a:xfrm>
            <a:off x="7533040" y="2691553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{0,1}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37218C-9B1B-FE73-1620-036582B35767}"/>
              </a:ext>
            </a:extLst>
          </p:cNvPr>
          <p:cNvSpPr/>
          <p:nvPr/>
        </p:nvSpPr>
        <p:spPr>
          <a:xfrm>
            <a:off x="7533039" y="4168181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{5,4}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595E1A14-0623-56CB-5F94-F1E5D101FF7A}"/>
              </a:ext>
            </a:extLst>
          </p:cNvPr>
          <p:cNvSpPr/>
          <p:nvPr/>
        </p:nvSpPr>
        <p:spPr>
          <a:xfrm>
            <a:off x="272162" y="33252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F32C7CF8-E2F5-7F15-3119-8D203948AB33}"/>
              </a:ext>
            </a:extLst>
          </p:cNvPr>
          <p:cNvSpPr/>
          <p:nvPr/>
        </p:nvSpPr>
        <p:spPr>
          <a:xfrm>
            <a:off x="2462912" y="20298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C82EA948-14D2-2871-AECA-5DC5C6A1AC21}"/>
              </a:ext>
            </a:extLst>
          </p:cNvPr>
          <p:cNvCxnSpPr>
            <a:stCxn id="28" idx="7"/>
            <a:endCxn id="29" idx="2"/>
          </p:cNvCxnSpPr>
          <p:nvPr/>
        </p:nvCxnSpPr>
        <p:spPr>
          <a:xfrm flipV="1">
            <a:off x="770189" y="2321585"/>
            <a:ext cx="1692723" cy="108911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橢圓 32">
            <a:extLst>
              <a:ext uri="{FF2B5EF4-FFF2-40B4-BE49-F238E27FC236}">
                <a16:creationId xmlns:a16="http://schemas.microsoft.com/office/drawing/2014/main" id="{6D19A4F5-5F6E-178B-B8E9-27A193FF5E54}"/>
              </a:ext>
            </a:extLst>
          </p:cNvPr>
          <p:cNvSpPr/>
          <p:nvPr/>
        </p:nvSpPr>
        <p:spPr>
          <a:xfrm>
            <a:off x="2462911" y="45317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73A5AADD-0910-651E-3570-F6E7463C1D34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770189" y="3823276"/>
            <a:ext cx="1692722" cy="100020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橢圓 36">
            <a:extLst>
              <a:ext uri="{FF2B5EF4-FFF2-40B4-BE49-F238E27FC236}">
                <a16:creationId xmlns:a16="http://schemas.microsoft.com/office/drawing/2014/main" id="{428A783A-9344-E80D-86A7-732A611BB8E6}"/>
              </a:ext>
            </a:extLst>
          </p:cNvPr>
          <p:cNvSpPr/>
          <p:nvPr/>
        </p:nvSpPr>
        <p:spPr>
          <a:xfrm>
            <a:off x="4812421" y="3165859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5692BDE2-FCA9-0526-515A-C622C2E96DE5}"/>
              </a:ext>
            </a:extLst>
          </p:cNvPr>
          <p:cNvCxnSpPr>
            <a:cxnSpLocks/>
            <a:stCxn id="37" idx="1"/>
            <a:endCxn id="29" idx="6"/>
          </p:cNvCxnSpPr>
          <p:nvPr/>
        </p:nvCxnSpPr>
        <p:spPr>
          <a:xfrm flipH="1" flipV="1">
            <a:off x="3046387" y="2321585"/>
            <a:ext cx="1851482" cy="9297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4D2E32A8-C543-5403-47F6-B09A6AA8D202}"/>
              </a:ext>
            </a:extLst>
          </p:cNvPr>
          <p:cNvCxnSpPr>
            <a:cxnSpLocks/>
            <a:stCxn id="37" idx="3"/>
            <a:endCxn id="33" idx="6"/>
          </p:cNvCxnSpPr>
          <p:nvPr/>
        </p:nvCxnSpPr>
        <p:spPr>
          <a:xfrm flipH="1">
            <a:off x="3046386" y="3663886"/>
            <a:ext cx="1851483" cy="115959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E411B487-9869-6176-F6AA-B51727617E89}"/>
              </a:ext>
            </a:extLst>
          </p:cNvPr>
          <p:cNvCxnSpPr>
            <a:cxnSpLocks/>
            <a:stCxn id="33" idx="0"/>
            <a:endCxn id="29" idx="4"/>
          </p:cNvCxnSpPr>
          <p:nvPr/>
        </p:nvCxnSpPr>
        <p:spPr>
          <a:xfrm flipV="1">
            <a:off x="2754649" y="2613322"/>
            <a:ext cx="1" cy="19184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73F63E1C-CBBB-4376-526F-C815A0FFFC96}"/>
              </a:ext>
            </a:extLst>
          </p:cNvPr>
          <p:cNvSpPr/>
          <p:nvPr/>
        </p:nvSpPr>
        <p:spPr>
          <a:xfrm>
            <a:off x="1337130" y="2424150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7C87257-97AB-DFB4-41B5-646981DB5348}"/>
              </a:ext>
            </a:extLst>
          </p:cNvPr>
          <p:cNvSpPr/>
          <p:nvPr/>
        </p:nvSpPr>
        <p:spPr>
          <a:xfrm>
            <a:off x="1394133" y="4352359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F79CFDE-E0BC-C0ED-7EE8-E43680AA5230}"/>
              </a:ext>
            </a:extLst>
          </p:cNvPr>
          <p:cNvSpPr/>
          <p:nvPr/>
        </p:nvSpPr>
        <p:spPr>
          <a:xfrm>
            <a:off x="2429420" y="3378467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8A4868F-3BFE-790A-EF68-012F94D0BA8D}"/>
              </a:ext>
            </a:extLst>
          </p:cNvPr>
          <p:cNvSpPr/>
          <p:nvPr/>
        </p:nvSpPr>
        <p:spPr>
          <a:xfrm>
            <a:off x="4098963" y="2357359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6AE019F-DEB1-955B-86E0-452340E7E611}"/>
              </a:ext>
            </a:extLst>
          </p:cNvPr>
          <p:cNvSpPr/>
          <p:nvPr/>
        </p:nvSpPr>
        <p:spPr>
          <a:xfrm>
            <a:off x="4176211" y="4204405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59D228-6491-DA57-66B4-4BD8BF174FE2}"/>
              </a:ext>
            </a:extLst>
          </p:cNvPr>
          <p:cNvSpPr/>
          <p:nvPr/>
        </p:nvSpPr>
        <p:spPr>
          <a:xfrm>
            <a:off x="7536291" y="3437483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{3,3}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7F176F2-FD1A-388A-4225-29469472C234}"/>
              </a:ext>
            </a:extLst>
          </p:cNvPr>
          <p:cNvSpPr/>
          <p:nvPr/>
        </p:nvSpPr>
        <p:spPr>
          <a:xfrm>
            <a:off x="7533038" y="4509325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{6,4}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C8F8E8BB-5B22-7721-BA6C-B2F229B9D760}"/>
              </a:ext>
            </a:extLst>
          </p:cNvPr>
          <p:cNvSpPr/>
          <p:nvPr/>
        </p:nvSpPr>
        <p:spPr>
          <a:xfrm>
            <a:off x="2462911" y="4531747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8885F74F-7FE4-BD65-FA59-9E99E7B5E314}"/>
              </a:ext>
            </a:extLst>
          </p:cNvPr>
          <p:cNvSpPr/>
          <p:nvPr/>
        </p:nvSpPr>
        <p:spPr>
          <a:xfrm>
            <a:off x="2462912" y="2029847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9D87773-3AF0-009A-5DBB-3B23895CE7F3}"/>
              </a:ext>
            </a:extLst>
          </p:cNvPr>
          <p:cNvSpPr/>
          <p:nvPr/>
        </p:nvSpPr>
        <p:spPr>
          <a:xfrm>
            <a:off x="268911" y="3325247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C13218D-339A-082B-09CB-E830E0E082DC}"/>
              </a:ext>
            </a:extLst>
          </p:cNvPr>
          <p:cNvSpPr/>
          <p:nvPr/>
        </p:nvSpPr>
        <p:spPr>
          <a:xfrm>
            <a:off x="7536291" y="3827369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{5,3}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A1E3CEF8-C957-A7DE-B2C8-F01BE9BF330C}"/>
              </a:ext>
            </a:extLst>
          </p:cNvPr>
          <p:cNvCxnSpPr/>
          <p:nvPr/>
        </p:nvCxnSpPr>
        <p:spPr>
          <a:xfrm flipV="1">
            <a:off x="766938" y="2321585"/>
            <a:ext cx="1692723" cy="108911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F8F15763-E656-A4BB-C426-3014AD92903D}"/>
              </a:ext>
            </a:extLst>
          </p:cNvPr>
          <p:cNvCxnSpPr>
            <a:cxnSpLocks/>
          </p:cNvCxnSpPr>
          <p:nvPr/>
        </p:nvCxnSpPr>
        <p:spPr>
          <a:xfrm>
            <a:off x="766938" y="3823276"/>
            <a:ext cx="1692722" cy="100020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EA59AD0D-9A95-7A04-FE25-9D86C44FCBAA}"/>
              </a:ext>
            </a:extLst>
          </p:cNvPr>
          <p:cNvCxnSpPr>
            <a:cxnSpLocks/>
          </p:cNvCxnSpPr>
          <p:nvPr/>
        </p:nvCxnSpPr>
        <p:spPr>
          <a:xfrm flipH="1" flipV="1">
            <a:off x="3043136" y="2321585"/>
            <a:ext cx="1851482" cy="929722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BDA6AE84-E025-CB6D-987A-816115FD52D7}"/>
              </a:ext>
            </a:extLst>
          </p:cNvPr>
          <p:cNvCxnSpPr>
            <a:cxnSpLocks/>
          </p:cNvCxnSpPr>
          <p:nvPr/>
        </p:nvCxnSpPr>
        <p:spPr>
          <a:xfrm flipH="1">
            <a:off x="3043135" y="3663886"/>
            <a:ext cx="1851483" cy="1159599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51576D4F-44C9-17D5-96D7-6D961B731AF0}"/>
              </a:ext>
            </a:extLst>
          </p:cNvPr>
          <p:cNvCxnSpPr>
            <a:cxnSpLocks/>
          </p:cNvCxnSpPr>
          <p:nvPr/>
        </p:nvCxnSpPr>
        <p:spPr>
          <a:xfrm flipV="1">
            <a:off x="2751398" y="2613322"/>
            <a:ext cx="1" cy="1918425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F00A1348-2137-4EB9-0323-1BFA9DC29AE2}"/>
              </a:ext>
            </a:extLst>
          </p:cNvPr>
          <p:cNvSpPr/>
          <p:nvPr/>
        </p:nvSpPr>
        <p:spPr>
          <a:xfrm>
            <a:off x="2794218" y="1160563"/>
            <a:ext cx="479559" cy="231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334CD19-E178-8A91-8532-5024B24A003E}"/>
              </a:ext>
            </a:extLst>
          </p:cNvPr>
          <p:cNvSpPr/>
          <p:nvPr/>
        </p:nvSpPr>
        <p:spPr>
          <a:xfrm>
            <a:off x="2803355" y="1160563"/>
            <a:ext cx="479559" cy="231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1974AB8-B41A-E8AA-F587-282E439674AD}"/>
              </a:ext>
            </a:extLst>
          </p:cNvPr>
          <p:cNvSpPr/>
          <p:nvPr/>
        </p:nvSpPr>
        <p:spPr>
          <a:xfrm>
            <a:off x="2803355" y="1131084"/>
            <a:ext cx="479559" cy="290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025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C2807-D80D-26E4-92D6-B4B5ED598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流程圖: 人工作業 29">
            <a:extLst>
              <a:ext uri="{FF2B5EF4-FFF2-40B4-BE49-F238E27FC236}">
                <a16:creationId xmlns:a16="http://schemas.microsoft.com/office/drawing/2014/main" id="{AC79552E-FF03-E505-AD0D-3E222FFE3AE9}"/>
              </a:ext>
            </a:extLst>
          </p:cNvPr>
          <p:cNvSpPr/>
          <p:nvPr/>
        </p:nvSpPr>
        <p:spPr>
          <a:xfrm flipV="1">
            <a:off x="6943508" y="2549220"/>
            <a:ext cx="2419328" cy="2948394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824E116-0022-F867-B98C-B36618F9E420}"/>
              </a:ext>
            </a:extLst>
          </p:cNvPr>
          <p:cNvSpPr/>
          <p:nvPr/>
        </p:nvSpPr>
        <p:spPr>
          <a:xfrm>
            <a:off x="237067" y="5623650"/>
            <a:ext cx="10340236" cy="573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取出最小的：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{6,4}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，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6 != (dis[4] = 5) -&gt; continue</a:t>
            </a:r>
          </a:p>
        </p:txBody>
      </p:sp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0AC768CD-4BC2-EF2C-55C4-695FA3A31EC5}"/>
              </a:ext>
            </a:extLst>
          </p:cNvPr>
          <p:cNvGraphicFramePr>
            <a:graphicFrameLocks noGrp="1"/>
          </p:cNvGraphicFramePr>
          <p:nvPr/>
        </p:nvGraphicFramePr>
        <p:xfrm>
          <a:off x="1162369" y="719666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976633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040504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520339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270940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77210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index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1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2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3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4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280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value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INF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2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3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5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541040"/>
                  </a:ext>
                </a:extLst>
              </a:tr>
            </a:tbl>
          </a:graphicData>
        </a:graphic>
      </p:graphicFrame>
      <p:sp>
        <p:nvSpPr>
          <p:cNvPr id="57" name="矩形 56">
            <a:extLst>
              <a:ext uri="{FF2B5EF4-FFF2-40B4-BE49-F238E27FC236}">
                <a16:creationId xmlns:a16="http://schemas.microsoft.com/office/drawing/2014/main" id="{0166ADC5-0E95-B6C6-8F91-7AC877CE8DC8}"/>
              </a:ext>
            </a:extLst>
          </p:cNvPr>
          <p:cNvSpPr/>
          <p:nvPr/>
        </p:nvSpPr>
        <p:spPr>
          <a:xfrm>
            <a:off x="240318" y="730193"/>
            <a:ext cx="1199774" cy="7206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dis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46963FC0-6417-A986-8FBA-D16A3C609608}"/>
              </a:ext>
            </a:extLst>
          </p:cNvPr>
          <p:cNvSpPr/>
          <p:nvPr/>
        </p:nvSpPr>
        <p:spPr>
          <a:xfrm>
            <a:off x="7015975" y="1903573"/>
            <a:ext cx="2274394" cy="520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priority_queue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與 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 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的距離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zh-TW" altLang="en-US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點</a:t>
            </a:r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74D4595-0567-13A1-15F3-A6FDEAD431CA}"/>
              </a:ext>
            </a:extLst>
          </p:cNvPr>
          <p:cNvSpPr/>
          <p:nvPr/>
        </p:nvSpPr>
        <p:spPr>
          <a:xfrm>
            <a:off x="9520902" y="808341"/>
            <a:ext cx="2627655" cy="471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push {0,1}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{0,1}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dist[2] = 2  push {2,2}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dist[3] = 5  push {5,3}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{2,2}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dist[3] = 3  push {3,3}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dist[4] = 6  push {6,4}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{3,3}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dist[4] = 5  push {5,4}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{5,3}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continue {5,3}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{5,4}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pop {6,4}</a:t>
            </a:r>
          </a:p>
          <a:p>
            <a:r>
              <a:rPr lang="en-US" altLang="zh-TW" sz="1400" b="1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continue {6,4}</a:t>
            </a:r>
          </a:p>
          <a:p>
            <a:endParaRPr lang="en-US" altLang="zh-TW" sz="1400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altLang="zh-TW" sz="14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dis[1] = 0</a:t>
            </a:r>
          </a:p>
          <a:p>
            <a:r>
              <a:rPr lang="en-US" altLang="zh-TW" sz="14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dis[2] = 2</a:t>
            </a:r>
          </a:p>
          <a:p>
            <a:r>
              <a:rPr lang="en-US" altLang="zh-TW" sz="14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dis[3] = 3</a:t>
            </a:r>
          </a:p>
          <a:p>
            <a:r>
              <a:rPr lang="en-US" altLang="zh-TW" sz="14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dis[4] = 5</a:t>
            </a:r>
            <a:endParaRPr lang="zh-TW" altLang="en-US" sz="1400" b="1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38B304-CB3E-B567-9869-F7C3DA31797C}"/>
              </a:ext>
            </a:extLst>
          </p:cNvPr>
          <p:cNvSpPr/>
          <p:nvPr/>
        </p:nvSpPr>
        <p:spPr>
          <a:xfrm>
            <a:off x="7536291" y="3075369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{2,2}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6DC140D-DC67-1002-650A-55E5D46CF491}"/>
              </a:ext>
            </a:extLst>
          </p:cNvPr>
          <p:cNvSpPr/>
          <p:nvPr/>
        </p:nvSpPr>
        <p:spPr>
          <a:xfrm>
            <a:off x="7533040" y="2691553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{0,1}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D0E507-8422-6D2B-1CD7-92F3ACD1E752}"/>
              </a:ext>
            </a:extLst>
          </p:cNvPr>
          <p:cNvSpPr/>
          <p:nvPr/>
        </p:nvSpPr>
        <p:spPr>
          <a:xfrm>
            <a:off x="7533039" y="4168181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{5,4}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D1944495-29A5-12C8-1671-BC68D9ABAAC0}"/>
              </a:ext>
            </a:extLst>
          </p:cNvPr>
          <p:cNvSpPr/>
          <p:nvPr/>
        </p:nvSpPr>
        <p:spPr>
          <a:xfrm>
            <a:off x="272162" y="33252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64F1C7E1-9BEC-B68F-F7BF-5CAAE1BADBBB}"/>
              </a:ext>
            </a:extLst>
          </p:cNvPr>
          <p:cNvSpPr/>
          <p:nvPr/>
        </p:nvSpPr>
        <p:spPr>
          <a:xfrm>
            <a:off x="2462912" y="20298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5F677DFA-D21C-9B31-FF08-2722510B3CE7}"/>
              </a:ext>
            </a:extLst>
          </p:cNvPr>
          <p:cNvCxnSpPr>
            <a:stCxn id="28" idx="7"/>
            <a:endCxn id="29" idx="2"/>
          </p:cNvCxnSpPr>
          <p:nvPr/>
        </p:nvCxnSpPr>
        <p:spPr>
          <a:xfrm flipV="1">
            <a:off x="770189" y="2321585"/>
            <a:ext cx="1692723" cy="108911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橢圓 32">
            <a:extLst>
              <a:ext uri="{FF2B5EF4-FFF2-40B4-BE49-F238E27FC236}">
                <a16:creationId xmlns:a16="http://schemas.microsoft.com/office/drawing/2014/main" id="{CFBB0C1D-85BA-AFF1-BB9E-5BDCF8640C3F}"/>
              </a:ext>
            </a:extLst>
          </p:cNvPr>
          <p:cNvSpPr/>
          <p:nvPr/>
        </p:nvSpPr>
        <p:spPr>
          <a:xfrm>
            <a:off x="2462911" y="4531747"/>
            <a:ext cx="583475" cy="58347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FD5D9632-5FBF-3C9B-7BE8-395F232B2733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770189" y="3823276"/>
            <a:ext cx="1692722" cy="100020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橢圓 36">
            <a:extLst>
              <a:ext uri="{FF2B5EF4-FFF2-40B4-BE49-F238E27FC236}">
                <a16:creationId xmlns:a16="http://schemas.microsoft.com/office/drawing/2014/main" id="{DE72F261-403A-FD48-F128-AE1FFF07E774}"/>
              </a:ext>
            </a:extLst>
          </p:cNvPr>
          <p:cNvSpPr/>
          <p:nvPr/>
        </p:nvSpPr>
        <p:spPr>
          <a:xfrm>
            <a:off x="4812421" y="3165859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B52C7CC5-B71D-7673-A824-028AA08BD5A1}"/>
              </a:ext>
            </a:extLst>
          </p:cNvPr>
          <p:cNvCxnSpPr>
            <a:cxnSpLocks/>
            <a:stCxn id="37" idx="1"/>
            <a:endCxn id="29" idx="6"/>
          </p:cNvCxnSpPr>
          <p:nvPr/>
        </p:nvCxnSpPr>
        <p:spPr>
          <a:xfrm flipH="1" flipV="1">
            <a:off x="3046387" y="2321585"/>
            <a:ext cx="1851482" cy="9297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7CA14C3C-5ACC-4059-5F78-58CCD8310315}"/>
              </a:ext>
            </a:extLst>
          </p:cNvPr>
          <p:cNvCxnSpPr>
            <a:cxnSpLocks/>
            <a:stCxn id="37" idx="3"/>
            <a:endCxn id="33" idx="6"/>
          </p:cNvCxnSpPr>
          <p:nvPr/>
        </p:nvCxnSpPr>
        <p:spPr>
          <a:xfrm flipH="1">
            <a:off x="3046386" y="3663886"/>
            <a:ext cx="1851483" cy="115959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156D2408-8CA2-2A86-B4B4-B58F9D0A460B}"/>
              </a:ext>
            </a:extLst>
          </p:cNvPr>
          <p:cNvCxnSpPr>
            <a:cxnSpLocks/>
            <a:stCxn id="33" idx="0"/>
            <a:endCxn id="29" idx="4"/>
          </p:cNvCxnSpPr>
          <p:nvPr/>
        </p:nvCxnSpPr>
        <p:spPr>
          <a:xfrm flipV="1">
            <a:off x="2754649" y="2613322"/>
            <a:ext cx="1" cy="19184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7293576A-B7F7-3BA4-ECC9-A9EA3E897969}"/>
              </a:ext>
            </a:extLst>
          </p:cNvPr>
          <p:cNvSpPr/>
          <p:nvPr/>
        </p:nvSpPr>
        <p:spPr>
          <a:xfrm>
            <a:off x="1337130" y="2424150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1A66AAF-A398-2308-0625-6BA7872FD5BD}"/>
              </a:ext>
            </a:extLst>
          </p:cNvPr>
          <p:cNvSpPr/>
          <p:nvPr/>
        </p:nvSpPr>
        <p:spPr>
          <a:xfrm>
            <a:off x="1394133" y="4352359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4A5783E-E034-D61C-1F3A-D7266C2EBC44}"/>
              </a:ext>
            </a:extLst>
          </p:cNvPr>
          <p:cNvSpPr/>
          <p:nvPr/>
        </p:nvSpPr>
        <p:spPr>
          <a:xfrm>
            <a:off x="2429420" y="3378467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0D15A02-5F2B-49E6-A3EF-4E9F33A15071}"/>
              </a:ext>
            </a:extLst>
          </p:cNvPr>
          <p:cNvSpPr/>
          <p:nvPr/>
        </p:nvSpPr>
        <p:spPr>
          <a:xfrm>
            <a:off x="4098963" y="2357359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3ABB952-1ED5-FA78-0D8E-B02CA8947A04}"/>
              </a:ext>
            </a:extLst>
          </p:cNvPr>
          <p:cNvSpPr/>
          <p:nvPr/>
        </p:nvSpPr>
        <p:spPr>
          <a:xfrm>
            <a:off x="4176211" y="4204405"/>
            <a:ext cx="205925" cy="358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407BCC-E104-089E-9252-52B77C6FDF42}"/>
              </a:ext>
            </a:extLst>
          </p:cNvPr>
          <p:cNvSpPr/>
          <p:nvPr/>
        </p:nvSpPr>
        <p:spPr>
          <a:xfrm>
            <a:off x="7536291" y="3437483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{3,3}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2A4EAF-0756-5B9F-EB72-581E8C06D104}"/>
              </a:ext>
            </a:extLst>
          </p:cNvPr>
          <p:cNvSpPr/>
          <p:nvPr/>
        </p:nvSpPr>
        <p:spPr>
          <a:xfrm>
            <a:off x="7533038" y="4509325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{6,4}</a:t>
            </a:r>
            <a:endParaRPr lang="zh-TW" altLang="en-US" b="1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BB672798-80AA-EB46-BC83-752313A4B91C}"/>
              </a:ext>
            </a:extLst>
          </p:cNvPr>
          <p:cNvSpPr/>
          <p:nvPr/>
        </p:nvSpPr>
        <p:spPr>
          <a:xfrm>
            <a:off x="2462911" y="4531747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F3EA7997-9E86-5260-5AAE-B2870522FB4A}"/>
              </a:ext>
            </a:extLst>
          </p:cNvPr>
          <p:cNvSpPr/>
          <p:nvPr/>
        </p:nvSpPr>
        <p:spPr>
          <a:xfrm>
            <a:off x="2462912" y="2029847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A3931837-AC4A-332A-40FF-027BD67EA19E}"/>
              </a:ext>
            </a:extLst>
          </p:cNvPr>
          <p:cNvSpPr/>
          <p:nvPr/>
        </p:nvSpPr>
        <p:spPr>
          <a:xfrm>
            <a:off x="268911" y="3325247"/>
            <a:ext cx="583475" cy="583475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ysClr val="windowText" lastClr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7F6995-4776-4D70-FFAD-96A0DF55845B}"/>
              </a:ext>
            </a:extLst>
          </p:cNvPr>
          <p:cNvSpPr/>
          <p:nvPr/>
        </p:nvSpPr>
        <p:spPr>
          <a:xfrm>
            <a:off x="7536291" y="3827369"/>
            <a:ext cx="1233761" cy="201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{5,3}</a:t>
            </a:r>
            <a:endParaRPr lang="zh-TW" altLang="en-US" b="1" dirty="0">
              <a:solidFill>
                <a:schemeClr val="bg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D320AA09-CA84-5835-460B-4FB78A73A9E9}"/>
              </a:ext>
            </a:extLst>
          </p:cNvPr>
          <p:cNvCxnSpPr/>
          <p:nvPr/>
        </p:nvCxnSpPr>
        <p:spPr>
          <a:xfrm flipV="1">
            <a:off x="766938" y="2321585"/>
            <a:ext cx="1692723" cy="108911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6A12BF2F-C14A-7129-CBAE-AF0E5A2EF575}"/>
              </a:ext>
            </a:extLst>
          </p:cNvPr>
          <p:cNvCxnSpPr>
            <a:cxnSpLocks/>
          </p:cNvCxnSpPr>
          <p:nvPr/>
        </p:nvCxnSpPr>
        <p:spPr>
          <a:xfrm>
            <a:off x="766938" y="3823276"/>
            <a:ext cx="1692722" cy="100020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8A27233B-76B5-897B-AF28-27708EDE81EF}"/>
              </a:ext>
            </a:extLst>
          </p:cNvPr>
          <p:cNvCxnSpPr>
            <a:cxnSpLocks/>
          </p:cNvCxnSpPr>
          <p:nvPr/>
        </p:nvCxnSpPr>
        <p:spPr>
          <a:xfrm flipH="1" flipV="1">
            <a:off x="3043136" y="2321585"/>
            <a:ext cx="1851482" cy="929722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85413FF7-3B1D-36DA-13FF-599D85EF4AF1}"/>
              </a:ext>
            </a:extLst>
          </p:cNvPr>
          <p:cNvCxnSpPr>
            <a:cxnSpLocks/>
          </p:cNvCxnSpPr>
          <p:nvPr/>
        </p:nvCxnSpPr>
        <p:spPr>
          <a:xfrm flipH="1">
            <a:off x="3043135" y="3663886"/>
            <a:ext cx="1851483" cy="1159599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A1F38FCF-4B06-60B4-7461-7BEA6CE88206}"/>
              </a:ext>
            </a:extLst>
          </p:cNvPr>
          <p:cNvCxnSpPr>
            <a:cxnSpLocks/>
          </p:cNvCxnSpPr>
          <p:nvPr/>
        </p:nvCxnSpPr>
        <p:spPr>
          <a:xfrm flipV="1">
            <a:off x="2751398" y="2613322"/>
            <a:ext cx="1" cy="1918425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DEF59F86-0EFB-E163-5BAC-32C9C5E20702}"/>
              </a:ext>
            </a:extLst>
          </p:cNvPr>
          <p:cNvSpPr/>
          <p:nvPr/>
        </p:nvSpPr>
        <p:spPr>
          <a:xfrm>
            <a:off x="2794218" y="1160563"/>
            <a:ext cx="479559" cy="231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088308B-7806-AF38-B2F3-1089A78F9937}"/>
              </a:ext>
            </a:extLst>
          </p:cNvPr>
          <p:cNvSpPr/>
          <p:nvPr/>
        </p:nvSpPr>
        <p:spPr>
          <a:xfrm>
            <a:off x="2803355" y="1160563"/>
            <a:ext cx="479559" cy="231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B2812D0-ED2A-E489-648C-3CA0027332A2}"/>
              </a:ext>
            </a:extLst>
          </p:cNvPr>
          <p:cNvSpPr/>
          <p:nvPr/>
        </p:nvSpPr>
        <p:spPr>
          <a:xfrm>
            <a:off x="237067" y="6147710"/>
            <a:ext cx="10340236" cy="573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完成</a:t>
            </a:r>
            <a:endParaRPr lang="en-US" altLang="zh-TW" b="1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F3F98FA-786B-A169-5CEF-012C1B00D77D}"/>
              </a:ext>
            </a:extLst>
          </p:cNvPr>
          <p:cNvSpPr/>
          <p:nvPr/>
        </p:nvSpPr>
        <p:spPr>
          <a:xfrm>
            <a:off x="2803355" y="1131084"/>
            <a:ext cx="479559" cy="290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zh-TW" altLang="en-US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346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2383</Words>
  <Application>Microsoft Office PowerPoint</Application>
  <PresentationFormat>寬螢幕</PresentationFormat>
  <Paragraphs>685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Cascadia Code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彥翰 陳</dc:creator>
  <cp:lastModifiedBy>彥翰 陳</cp:lastModifiedBy>
  <cp:revision>3</cp:revision>
  <dcterms:created xsi:type="dcterms:W3CDTF">2026-06-18T09:56:28Z</dcterms:created>
  <dcterms:modified xsi:type="dcterms:W3CDTF">2026-06-18T12:47:06Z</dcterms:modified>
</cp:coreProperties>
</file>